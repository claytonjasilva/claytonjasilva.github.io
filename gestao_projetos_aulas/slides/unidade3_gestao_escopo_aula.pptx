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9e95f9d1f6446e" /><Relationship Type="http://schemas.openxmlformats.org/officeDocument/2006/relationships/extended-properties" Target="/docProps/app.xml" Id="Rb87d9f91e6b344c4" /><Relationship Type="http://schemas.openxmlformats.org/officeDocument/2006/relationships/officeDocument" Target="/ppt/presentation.xml" Id="R83e2e41de04f40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67fafe642f441c"/>
  </p:sldMasterIdLst>
  <p:notesMasterIdLst>
    <p:notesMasterId xmlns:r="http://schemas.openxmlformats.org/officeDocument/2006/relationships" r:id="Rd1ab5b0b3b8640d0"/>
  </p:notesMasterIdLst>
  <p:sldIdLst>
    <p:sldId xmlns:r="http://schemas.openxmlformats.org/officeDocument/2006/relationships" id="256" r:id="R43d2e24f71404f68"/>
    <p:sldId xmlns:r="http://schemas.openxmlformats.org/officeDocument/2006/relationships" id="257" r:id="Rb4856588ed4c4405"/>
    <p:sldId xmlns:r="http://schemas.openxmlformats.org/officeDocument/2006/relationships" id="258" r:id="Rd9cb714377c14b75"/>
    <p:sldId xmlns:r="http://schemas.openxmlformats.org/officeDocument/2006/relationships" id="259" r:id="R391811a5a79849bb"/>
    <p:sldId xmlns:r="http://schemas.openxmlformats.org/officeDocument/2006/relationships" id="260" r:id="R32c53b98759e433f"/>
    <p:sldId xmlns:r="http://schemas.openxmlformats.org/officeDocument/2006/relationships" id="261" r:id="Re9beeea1ed9f4a5a"/>
    <p:sldId xmlns:r="http://schemas.openxmlformats.org/officeDocument/2006/relationships" id="262" r:id="Rec4f0773502f4fd7"/>
    <p:sldId xmlns:r="http://schemas.openxmlformats.org/officeDocument/2006/relationships" id="263" r:id="R17fa0cab86d84422"/>
    <p:sldId xmlns:r="http://schemas.openxmlformats.org/officeDocument/2006/relationships" id="264" r:id="R4a31267a778142c2"/>
    <p:sldId xmlns:r="http://schemas.openxmlformats.org/officeDocument/2006/relationships" id="265" r:id="R992361e79e9b4575"/>
    <p:sldId xmlns:r="http://schemas.openxmlformats.org/officeDocument/2006/relationships" id="266" r:id="Rde7b6f3eb85d4ee2"/>
    <p:sldId xmlns:r="http://schemas.openxmlformats.org/officeDocument/2006/relationships" id="267" r:id="R58a810d84f794e7b"/>
    <p:sldId xmlns:r="http://schemas.openxmlformats.org/officeDocument/2006/relationships" id="268" r:id="R9dc8868e8486408d"/>
    <p:sldId xmlns:r="http://schemas.openxmlformats.org/officeDocument/2006/relationships" id="269" r:id="Re4707025d9c340ef"/>
    <p:sldId xmlns:r="http://schemas.openxmlformats.org/officeDocument/2006/relationships" id="270" r:id="R1d589406d7364031"/>
    <p:sldId xmlns:r="http://schemas.openxmlformats.org/officeDocument/2006/relationships" id="271" r:id="Rb40464038eed4859"/>
    <p:sldId xmlns:r="http://schemas.openxmlformats.org/officeDocument/2006/relationships" id="272" r:id="Ra1c19dc8974a4545"/>
    <p:sldId xmlns:r="http://schemas.openxmlformats.org/officeDocument/2006/relationships" id="273" r:id="Rc821673506444e8d"/>
    <p:sldId xmlns:r="http://schemas.openxmlformats.org/officeDocument/2006/relationships" id="274" r:id="R01187dbbff50405c"/>
    <p:sldId xmlns:r="http://schemas.openxmlformats.org/officeDocument/2006/relationships" id="275" r:id="Rb6884ca208f441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f92819ec574637" /><Relationship Type="http://schemas.openxmlformats.org/officeDocument/2006/relationships/slideMaster" Target="/ppt/slideMasters/slideMaster1.xml" Id="Rbc67fafe642f441c" /><Relationship Type="http://schemas.openxmlformats.org/officeDocument/2006/relationships/notesMaster" Target="/ppt/notesMasters/notesMaster1.xml" Id="Rd1ab5b0b3b8640d0" /><Relationship Type="http://schemas.openxmlformats.org/officeDocument/2006/relationships/presProps" Target="/ppt/presProps.xml" Id="R42da887379bc4c0b" /><Relationship Type="http://schemas.openxmlformats.org/officeDocument/2006/relationships/tableStyles" Target="/ppt/tableStyles.xml" Id="R66e3cb85e31c41d8" /><Relationship Type="http://schemas.openxmlformats.org/officeDocument/2006/relationships/slide" Target="/ppt/slides/slide1.xml" Id="R43d2e24f71404f68" /><Relationship Type="http://schemas.openxmlformats.org/officeDocument/2006/relationships/slide" Target="/ppt/slides/slide2.xml" Id="Rb4856588ed4c4405" /><Relationship Type="http://schemas.openxmlformats.org/officeDocument/2006/relationships/slide" Target="/ppt/slides/slide3.xml" Id="Rd9cb714377c14b75" /><Relationship Type="http://schemas.openxmlformats.org/officeDocument/2006/relationships/slide" Target="/ppt/slides/slide4.xml" Id="R391811a5a79849bb" /><Relationship Type="http://schemas.openxmlformats.org/officeDocument/2006/relationships/slide" Target="/ppt/slides/slide5.xml" Id="R32c53b98759e433f" /><Relationship Type="http://schemas.openxmlformats.org/officeDocument/2006/relationships/slide" Target="/ppt/slides/slide6.xml" Id="Re9beeea1ed9f4a5a" /><Relationship Type="http://schemas.openxmlformats.org/officeDocument/2006/relationships/slide" Target="/ppt/slides/slide7.xml" Id="Rec4f0773502f4fd7" /><Relationship Type="http://schemas.openxmlformats.org/officeDocument/2006/relationships/slide" Target="/ppt/slides/slide8.xml" Id="R17fa0cab86d84422" /><Relationship Type="http://schemas.openxmlformats.org/officeDocument/2006/relationships/slide" Target="/ppt/slides/slide9.xml" Id="R4a31267a778142c2" /><Relationship Type="http://schemas.openxmlformats.org/officeDocument/2006/relationships/slide" Target="/ppt/slides/slide10.xml" Id="R992361e79e9b4575" /><Relationship Type="http://schemas.openxmlformats.org/officeDocument/2006/relationships/slide" Target="/ppt/slides/slide11.xml" Id="Rde7b6f3eb85d4ee2" /><Relationship Type="http://schemas.openxmlformats.org/officeDocument/2006/relationships/slide" Target="/ppt/slides/slide12.xml" Id="R58a810d84f794e7b" /><Relationship Type="http://schemas.openxmlformats.org/officeDocument/2006/relationships/slide" Target="/ppt/slides/slide13.xml" Id="R9dc8868e8486408d" /><Relationship Type="http://schemas.openxmlformats.org/officeDocument/2006/relationships/slide" Target="/ppt/slides/slide14.xml" Id="Re4707025d9c340ef" /><Relationship Type="http://schemas.openxmlformats.org/officeDocument/2006/relationships/slide" Target="/ppt/slides/slide15.xml" Id="R1d589406d7364031" /><Relationship Type="http://schemas.openxmlformats.org/officeDocument/2006/relationships/slide" Target="/ppt/slides/slide16.xml" Id="Rb40464038eed4859" /><Relationship Type="http://schemas.openxmlformats.org/officeDocument/2006/relationships/slide" Target="/ppt/slides/slide17.xml" Id="Ra1c19dc8974a4545" /><Relationship Type="http://schemas.openxmlformats.org/officeDocument/2006/relationships/slide" Target="/ppt/slides/slide18.xml" Id="Rc821673506444e8d" /><Relationship Type="http://schemas.openxmlformats.org/officeDocument/2006/relationships/slide" Target="/ppt/slides/slide19.xml" Id="R01187dbbff50405c" /><Relationship Type="http://schemas.openxmlformats.org/officeDocument/2006/relationships/slide" Target="/ppt/slides/slide20.xml" Id="Rb6884ca208f441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9b6899159b45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7d05ca5b8d4907" /><Relationship Type="http://schemas.openxmlformats.org/officeDocument/2006/relationships/notesMaster" Target="/ppt/notesMasters/notesMaster1.xml" Id="Rc03ae624c7244c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7d75b0a1c24054" /><Relationship Type="http://schemas.openxmlformats.org/officeDocument/2006/relationships/notesMaster" Target="/ppt/notesMasters/notesMaster1.xml" Id="Re68bb2deb60747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19eee7a6cc47e9" /><Relationship Type="http://schemas.openxmlformats.org/officeDocument/2006/relationships/notesMaster" Target="/ppt/notesMasters/notesMaster1.xml" Id="Rd6fdec28201741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d84c7571f4466b" /><Relationship Type="http://schemas.openxmlformats.org/officeDocument/2006/relationships/notesMaster" Target="/ppt/notesMasters/notesMaster1.xml" Id="R866804b2e97e47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1d7aefbd7346ca" /><Relationship Type="http://schemas.openxmlformats.org/officeDocument/2006/relationships/notesMaster" Target="/ppt/notesMasters/notesMaster1.xml" Id="R235e3e52badf4f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b32aed67a84c30" /><Relationship Type="http://schemas.openxmlformats.org/officeDocument/2006/relationships/notesMaster" Target="/ppt/notesMasters/notesMaster1.xml" Id="R82ce1362227741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d8964d989a4ad0" /><Relationship Type="http://schemas.openxmlformats.org/officeDocument/2006/relationships/notesMaster" Target="/ppt/notesMasters/notesMaster1.xml" Id="R6686200dda3949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695a3a54d54402" /><Relationship Type="http://schemas.openxmlformats.org/officeDocument/2006/relationships/notesMaster" Target="/ppt/notesMasters/notesMaster1.xml" Id="R17fa129699234f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7780f2b20a4289" /><Relationship Type="http://schemas.openxmlformats.org/officeDocument/2006/relationships/notesMaster" Target="/ppt/notesMasters/notesMaster1.xml" Id="Rb8c7c4bbd98844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f64018e0b5457d" /><Relationship Type="http://schemas.openxmlformats.org/officeDocument/2006/relationships/notesMaster" Target="/ppt/notesMasters/notesMaster1.xml" Id="R4c06502852a846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ffb35b9d9849c6" /><Relationship Type="http://schemas.openxmlformats.org/officeDocument/2006/relationships/notesMaster" Target="/ppt/notesMasters/notesMaster1.xml" Id="Rcadab6b42c624e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4309b74dfa487e" /><Relationship Type="http://schemas.openxmlformats.org/officeDocument/2006/relationships/notesMaster" Target="/ppt/notesMasters/notesMaster1.xml" Id="R3975c15b0a0d42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1b9dd8d47a4ec2" /><Relationship Type="http://schemas.openxmlformats.org/officeDocument/2006/relationships/notesMaster" Target="/ppt/notesMasters/notesMaster1.xml" Id="Rcd3ffcd7f41b46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83b8e1fec74c54" /><Relationship Type="http://schemas.openxmlformats.org/officeDocument/2006/relationships/notesMaster" Target="/ppt/notesMasters/notesMaster1.xml" Id="R43d5132cd95741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b36a5b81564764" /><Relationship Type="http://schemas.openxmlformats.org/officeDocument/2006/relationships/notesMaster" Target="/ppt/notesMasters/notesMaster1.xml" Id="R63c8d1036d0441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19135e797c4664" /><Relationship Type="http://schemas.openxmlformats.org/officeDocument/2006/relationships/notesMaster" Target="/ppt/notesMasters/notesMaster1.xml" Id="R076bf681b88942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4b2ff26d384a6c" /><Relationship Type="http://schemas.openxmlformats.org/officeDocument/2006/relationships/notesMaster" Target="/ppt/notesMasters/notesMaster1.xml" Id="R243950ce9a5b422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be95f951334f62" /><Relationship Type="http://schemas.openxmlformats.org/officeDocument/2006/relationships/notesMaster" Target="/ppt/notesMasters/notesMaster1.xml" Id="Rd3e63575a4b546d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7e59dab35e4407" /><Relationship Type="http://schemas.openxmlformats.org/officeDocument/2006/relationships/notesMaster" Target="/ppt/notesMasters/notesMaster1.xml" Id="Ra81c93382e5346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cbcd34deec4d9b" /><Relationship Type="http://schemas.openxmlformats.org/officeDocument/2006/relationships/notesMaster" Target="/ppt/notesMasters/notesMaster1.xml" Id="R047a9847aaf643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Imagem: SILVA, Clayton J. A. Gestão do escopo de projetos. Material didático, 2026. Síntese conceitual: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Imagem: SILVA, Clayton J. A. Gestão do escopo de projetos. Material didático, 2026. Síntese conceitual: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Imagem: SILVA, Clayton J. A. Gestão do escopo de projetos. Material didático, 2026. Síntese conceitual: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Imagem: SILVA, Clayton J. A. Gestão do escopo de projetos. Material didático, 2026. Síntese conceitual: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Imagem: SILVA, Clayton J. A. Gestão do escopo de projetos. Material didático, 2026. Síntese conceitual: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Imagem: SILVA, Clayton J. A. Gestão do escopo de projetos. Material didático, 2026. Síntese conceitual: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Imagem: SILVA, Clayton J. A. Gestão do escopo de projetos. Material didático, 2026. Síntese conceitual: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XAVIER, Carlos Magno da Silva. Gerenciamento de projetos: como definir e controlar o escopo do projeto. 2. ed. São Paulo: Saraiva, 2009; página da Unidade 3 da disciplina. Conceitos de cronograma sintetizados na página da Unidade 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XAVIER, Carlos Magno da Silva. Gerenciamento de projetos: como definir e controlar o escopo do projeto. 2. ed. São Paulo: Saraiva, 2009; página da Unidade 3 da disciplina.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1c170666324d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bc9a922de84288" /><Relationship Type="http://schemas.openxmlformats.org/officeDocument/2006/relationships/slideLayout" Target="/ppt/slideLayouts/slideLayout1.xml" Id="R02186188c53c4d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186188c53c4d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1ee073eab454e" /><Relationship Type="http://schemas.openxmlformats.org/officeDocument/2006/relationships/notesSlide" Target="/ppt/notesSlides/notesSlide1.xml" Id="R62acd4d6a4b24a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18500aef34679" /><Relationship Type="http://schemas.openxmlformats.org/officeDocument/2006/relationships/notesSlide" Target="/ppt/notesSlides/notesSlide2.xml" Id="R23f84d161b0e42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e1f9a65c14cbd" /><Relationship Type="http://schemas.openxmlformats.org/officeDocument/2006/relationships/notesSlide" Target="/ppt/notesSlides/notesSlide3.xml" Id="R2b6a3db95d7648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3b0c539894425" /><Relationship Type="http://schemas.openxmlformats.org/officeDocument/2006/relationships/notesSlide" Target="/ppt/notesSlides/notesSlide4.xml" Id="R23fa8c9bb3844e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240e59a92408c" /><Relationship Type="http://schemas.openxmlformats.org/officeDocument/2006/relationships/image" Target="/ppt/media/image.png" Id="Rb93716be132c4634" /><Relationship Type="http://schemas.openxmlformats.org/officeDocument/2006/relationships/notesSlide" Target="/ppt/notesSlides/notesSlide5.xml" Id="R7aec3c63400348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b8d681f554734" /><Relationship Type="http://schemas.openxmlformats.org/officeDocument/2006/relationships/notesSlide" Target="/ppt/notesSlides/notesSlide6.xml" Id="Ra02d5a4d862242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f13ba244d466d" /><Relationship Type="http://schemas.openxmlformats.org/officeDocument/2006/relationships/image" Target="/ppt/media/image2.png" Id="R385afe7345f6495a" /><Relationship Type="http://schemas.openxmlformats.org/officeDocument/2006/relationships/notesSlide" Target="/ppt/notesSlides/notesSlide7.xml" Id="Rb0db37a9d27845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50b306aa747a7" /><Relationship Type="http://schemas.openxmlformats.org/officeDocument/2006/relationships/image" Target="/ppt/media/image3.png" Id="Rabdb0bdfdaf7458f" /><Relationship Type="http://schemas.openxmlformats.org/officeDocument/2006/relationships/notesSlide" Target="/ppt/notesSlides/notesSlide8.xml" Id="Ra85068787dc447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cca5ee9ab45e6" /><Relationship Type="http://schemas.openxmlformats.org/officeDocument/2006/relationships/notesSlide" Target="/ppt/notesSlides/notesSlide9.xml" Id="Rdde55b1f4bf949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ffed37d454a76" /><Relationship Type="http://schemas.openxmlformats.org/officeDocument/2006/relationships/image" Target="/ppt/media/image4.png" Id="R44322a2275a04efc" /><Relationship Type="http://schemas.openxmlformats.org/officeDocument/2006/relationships/notesSlide" Target="/ppt/notesSlides/notesSlide10.xml" Id="R923d305a6eea49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0341322a8494a" /><Relationship Type="http://schemas.openxmlformats.org/officeDocument/2006/relationships/notesSlide" Target="/ppt/notesSlides/notesSlide11.xml" Id="R66c7561359e543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d69f303894c19" /><Relationship Type="http://schemas.openxmlformats.org/officeDocument/2006/relationships/image" Target="/ppt/media/image5.png" Id="Re319ee1381034cd6" /><Relationship Type="http://schemas.openxmlformats.org/officeDocument/2006/relationships/notesSlide" Target="/ppt/notesSlides/notesSlide12.xml" Id="R7dcff9094abd45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5dd6ed29b4a26" /><Relationship Type="http://schemas.openxmlformats.org/officeDocument/2006/relationships/notesSlide" Target="/ppt/notesSlides/notesSlide13.xml" Id="Rb1eb8a59c12645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0e0d0b6424a26" /><Relationship Type="http://schemas.openxmlformats.org/officeDocument/2006/relationships/notesSlide" Target="/ppt/notesSlides/notesSlide14.xml" Id="R1e1943fce04e41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d8090042d4fa9" /><Relationship Type="http://schemas.openxmlformats.org/officeDocument/2006/relationships/notesSlide" Target="/ppt/notesSlides/notesSlide15.xml" Id="R58b6f844d9704b4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9cd1ddf7b43a8" /><Relationship Type="http://schemas.openxmlformats.org/officeDocument/2006/relationships/image" Target="/ppt/media/image6.png" Id="Re1d8b11f2a3b4d65" /><Relationship Type="http://schemas.openxmlformats.org/officeDocument/2006/relationships/notesSlide" Target="/ppt/notesSlides/notesSlide16.xml" Id="Rda0e993cf66e48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ccd16b51d4a6f" /><Relationship Type="http://schemas.openxmlformats.org/officeDocument/2006/relationships/image" Target="/ppt/media/image7.png" Id="Rd06423e9c25444ad" /><Relationship Type="http://schemas.openxmlformats.org/officeDocument/2006/relationships/notesSlide" Target="/ppt/notesSlides/notesSlide17.xml" Id="R057993b79b964d9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b799ea9bf4adb" /><Relationship Type="http://schemas.openxmlformats.org/officeDocument/2006/relationships/notesSlide" Target="/ppt/notesSlides/notesSlide18.xml" Id="R8cb06b3b8e38498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668a80319439c" /><Relationship Type="http://schemas.openxmlformats.org/officeDocument/2006/relationships/notesSlide" Target="/ppt/notesSlides/notesSlide19.xml" Id="Rffd4120047364d4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39549c5794068" /><Relationship Type="http://schemas.openxmlformats.org/officeDocument/2006/relationships/notesSlide" Target="/ppt/notesSlides/notesSlide20.xml" Id="Re73460b89d594a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ADBA0-60AB-4B6B-AAB6-4484513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0">
            <a:solidFill>
              <a:srgbClr val="36C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19BAA-E1DE-4B68-8FA6-B27D7695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C5F0"/>
                </a:solidFill>
              </a:defRPr>
            </a:pPr>
            <a:r>
              <a:rPr sz="1275" b="1">
                <a:solidFill>
                  <a:srgbClr val="36C5F0"/>
                </a:solidFill>
              </a:rPr>
              <a:t>UNIDADE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C09DB-5E2C-45C2-BCD7-E43B8E65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733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4F8FC"/>
                </a:solidFill>
              </a:defRPr>
            </a:pPr>
            <a:r>
              <a:rPr sz="4650" b="1">
                <a:solidFill>
                  <a:srgbClr val="F4F8FC"/>
                </a:solidFill>
              </a:rPr>
              <a:t>Gestão do escopo</a:t>
            </a:r>
          </a:p>
          <a:p xmlns:a="http://schemas.openxmlformats.org/drawingml/2006/main">
            <a:pPr algn="l">
              <a:defRPr sz="4650" b="1">
                <a:solidFill>
                  <a:srgbClr val="F4F8FC"/>
                </a:solidFill>
              </a:defRPr>
            </a:pPr>
            <a:r>
              <a:rPr sz="4650" b="1">
                <a:solidFill>
                  <a:srgbClr val="F4F8FC"/>
                </a:solidFill>
              </a:rPr>
              <a:t>de projetos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680AD-C6CA-4A99-AB05-24A552C7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B7C8"/>
                </a:solidFill>
              </a:defRPr>
            </a:pPr>
            <a:r>
              <a:rPr sz="1875" b="0">
                <a:solidFill>
                  <a:srgbClr val="A9B7C8"/>
                </a:solidFill>
              </a:rPr>
              <a:t>Da autorização inicial à validação e ao controle das entregas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E131A-B81D-47E7-8004-1253506F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"/>
            <a:ext cx="2381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DD54A-0243-476F-B46A-DB44CA2F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2858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6C5F0"/>
                </a:solidFill>
              </a:defRPr>
            </a:pPr>
            <a:r>
              <a:rPr sz="2700" b="1">
                <a:solidFill>
                  <a:srgbClr val="36C5F0"/>
                </a:solidFill>
              </a:rPr>
              <a:t>TAP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0FB7A-E804-45EB-91E5-24AB6AAE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859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A7BFF"/>
                </a:solidFill>
              </a:defRPr>
            </a:pPr>
            <a:r>
              <a:rPr sz="1725" b="1">
                <a:solidFill>
                  <a:srgbClr val="9A7BFF"/>
                </a:solidFill>
              </a:rPr>
              <a:t>REQUISITOS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FA293-6B80-4E99-8490-2E516F9E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5D39A"/>
                </a:solidFill>
              </a:defRPr>
            </a:pPr>
            <a:r>
              <a:rPr sz="2100" b="1">
                <a:solidFill>
                  <a:srgbClr val="35D39A"/>
                </a:solidFill>
              </a:rPr>
              <a:t>EAP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66427-7B61-4340-B6B8-0DFBEB6B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765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E55"/>
                </a:solidFill>
              </a:defRPr>
            </a:pPr>
            <a:r>
              <a:rPr sz="1650" b="1">
                <a:solidFill>
                  <a:srgbClr val="FFBE55"/>
                </a:solidFill>
              </a:rPr>
              <a:t>CONTROLE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1C599-E58E-4852-B2E4-00D931CC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7C8"/>
                </a:solidFill>
              </a:defRPr>
            </a:pPr>
            <a:r>
              <a:rPr sz="1200" b="0">
                <a:solidFill>
                  <a:srgbClr val="A9B7C8"/>
                </a:solidFill>
              </a:rPr>
              <a:t>Prof. Clayton J. A. Silva · Gestão de Projetos · 2026</a:t>
            </a:r>
          </a:p>
        </p:txBody>
      </p:sp>
    </p:spTree>
    <p:extLst>
      <p:ext uri="{BB962C8B-B14F-4D97-AF65-F5344CB8AC3E}">
        <p14:creationId xmlns:p14="http://schemas.microsoft.com/office/powerpoint/2010/main" val="90590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50121A-96E2-43D6-A125-880737CC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VISÃO DA UNIDADE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14B9D-91CF-4A99-98C5-9B068FC7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08C1E-AE97-4076-81A0-7028A9B7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E7C08-9F43-4DB2-AB21-1D1C5725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7C3FC-5A56-4911-A421-DC5186E8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Gerenciar o escopo exige coerência entre os artefatos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18962-A99E-47AE-967B-617DC429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098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22552-DB1A-445E-B504-D0470D0B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581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5B10E-8175-4514-888A-340E78F9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765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6B"/>
                </a:solidFill>
              </a:defRPr>
            </a:pPr>
            <a:r>
              <a:rPr sz="1350" b="1">
                <a:solidFill>
                  <a:srgbClr val="FF6B6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9CA14-3FC5-42F4-9CF0-FF42175C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TAP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B7478-597B-41E7-AE3D-17C764E6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098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5210F-B565-4631-A5C3-397A9213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62200"/>
            <a:ext cx="1581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36C5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9E343-3A53-44FB-A642-1E6F6FF0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4765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6C5F0"/>
                </a:solidFill>
              </a:defRPr>
            </a:pPr>
            <a:r>
              <a:rPr sz="1350" b="1">
                <a:solidFill>
                  <a:srgbClr val="36C5F0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0D2E2-BFD9-433D-A761-934C1B0D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Stakeholders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E9549-28CB-4739-8E0A-A068A354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98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75E4A-A3A3-4EE2-BA13-6EB89BA0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1581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9A7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AC05A-961E-4940-ACC0-8394CFB3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765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7BFF"/>
                </a:solidFill>
              </a:defRPr>
            </a:pPr>
            <a:r>
              <a:rPr sz="1350" b="1">
                <a:solidFill>
                  <a:srgbClr val="9A7B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0FDD4-164F-423B-97EA-D0148026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Requisitos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3AA8A-B4A4-4EE3-A369-BA22158A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98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AEDF49-4BDD-40B1-9999-3B8C629A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1581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35D3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27B5A-6993-41CC-86D3-9FDA69FB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5D39A"/>
                </a:solidFill>
              </a:defRPr>
            </a:pPr>
            <a:r>
              <a:rPr sz="1350" b="1">
                <a:solidFill>
                  <a:srgbClr val="35D39A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BA297-7CF8-4D3B-800A-D4F1E1F1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Declaração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537EBE-4959-4E81-A277-C2DE298F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98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B9A19-F3D7-4C80-9E70-F42E77F3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1581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FFBE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127A35-0E81-4FEC-AAE8-1F2493CC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765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E55"/>
                </a:solidFill>
              </a:defRPr>
            </a:pPr>
            <a:r>
              <a:rPr sz="1350" b="1">
                <a:solidFill>
                  <a:srgbClr val="FFBE55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B1C445-B3E6-48E8-9892-1ED24434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EAP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F0227-8043-4331-BA0E-93C926C5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62200"/>
            <a:ext cx="1581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36C5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6108B0-D98A-4893-9622-74B8B6B8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4765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6C5F0"/>
                </a:solidFill>
              </a:defRPr>
            </a:pPr>
            <a:r>
              <a:rPr sz="1350" b="1">
                <a:solidFill>
                  <a:srgbClr val="36C5F0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035C81-7A77-4F0A-8D42-6D8B7708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81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Controle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2F9203-FD51-4AA9-9EE8-051D75F7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F8FC"/>
                </a:solidFill>
              </a:defRPr>
            </a:pPr>
            <a:r>
              <a:rPr sz="2100" b="1">
                <a:solidFill>
                  <a:srgbClr val="F4F8FC"/>
                </a:solidFill>
              </a:rPr>
              <a:t>Cada artefato detalha, organiza ou controla compromissos assumidos no anterior.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20382C-DF94-490A-A80B-86718BFD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7C8"/>
                </a:solidFill>
              </a:defRPr>
            </a:pPr>
            <a:r>
              <a:rPr sz="1500" b="0">
                <a:solidFill>
                  <a:srgbClr val="A9B7C8"/>
                </a:solidFill>
              </a:rPr>
              <a:t>O objetivo é realizar todo o trabalho necessário — e apenas o necessário.</a:t>
            </a:r>
          </a:p>
        </p:txBody>
      </p:sp>
    </p:spTree>
    <p:extLst>
      <p:ext uri="{BB962C8B-B14F-4D97-AF65-F5344CB8AC3E}">
        <p14:creationId xmlns:p14="http://schemas.microsoft.com/office/powerpoint/2010/main" val="1358838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5D163-CEF3-4DC3-BECE-2E6A54C7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3.1 · AUTORIZAÇÃO E ESCOPO INICIAL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81182-624C-4212-9059-4C935662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9B609-AC1A-4A56-B83E-279E52FF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07EC9-D86E-403B-9132-E69533DB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76F02-6B08-4074-A51A-4FFB4092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O TAP enquadra o escopo inicial do projeto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ACFC0-4E56-4AD4-A381-778C9D54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6C5F0"/>
                </a:solidFill>
              </a:defRPr>
            </a:pPr>
            <a:r>
              <a:rPr sz="2550" b="1">
                <a:solidFill>
                  <a:srgbClr val="36C5F0"/>
                </a:solidFill>
              </a:rPr>
              <a:t>Certidão de nascimento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3D14A-FAF9-4ECA-ABB7-5E04B758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667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8FC"/>
                </a:solidFill>
              </a:defRPr>
            </a:pPr>
            <a:r>
              <a:rPr sz="1875" b="0">
                <a:solidFill>
                  <a:srgbClr val="F4F8FC"/>
                </a:solidFill>
              </a:rPr>
              <a:t>Autoriza o projeto e concede ao gerente autoridade para mobilizar recursos organizacionais.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E6920-90E9-4637-BF82-C822A39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38300"/>
            <a:ext cx="47625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E8E34-C83A-445B-BA53-1A67AFD0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9B7C8"/>
                </a:solidFill>
              </a:defRPr>
            </a:pPr>
            <a:r>
              <a:rPr sz="1500" b="1">
                <a:solidFill>
                  <a:srgbClr val="A9B7C8"/>
                </a:solidFill>
              </a:rPr>
              <a:t>Quem emite?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5D1DB-CC83-4A79-A011-2EBBEA2A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6C5F0"/>
                </a:solidFill>
              </a:defRPr>
            </a:pPr>
            <a:r>
              <a:rPr sz="2325" b="1">
                <a:solidFill>
                  <a:srgbClr val="36C5F0"/>
                </a:solidFill>
              </a:rPr>
              <a:t>Patrocinador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174E6-3FF7-4350-8EC6-F9E0E009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9B7C8"/>
                </a:solidFill>
              </a:defRPr>
            </a:pPr>
            <a:r>
              <a:rPr sz="1500" b="1">
                <a:solidFill>
                  <a:srgbClr val="A9B7C8"/>
                </a:solidFill>
              </a:rPr>
              <a:t>O que registra?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D977C-E4E2-4622-B524-DF353221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8FC"/>
                </a:solidFill>
              </a:defRPr>
            </a:pPr>
            <a:r>
              <a:rPr sz="1650" b="0">
                <a:solidFill>
                  <a:srgbClr val="F4F8FC"/>
                </a:solidFill>
              </a:rPr>
              <a:t>Propósito · objetivos · requisitos de alto nível · limites · autoridade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60565-330D-4E8A-9AF0-3A81CADD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BE55"/>
                </a:solidFill>
              </a:defRPr>
            </a:pPr>
            <a:r>
              <a:rPr sz="2025" b="1">
                <a:solidFill>
                  <a:srgbClr val="FFBE55"/>
                </a:solidFill>
              </a:rPr>
              <a:t>Sem autorização, há esforço — mas ainda não há projeto formal.</a:t>
            </a:r>
          </a:p>
        </p:txBody>
      </p:sp>
    </p:spTree>
    <p:extLst>
      <p:ext uri="{BB962C8B-B14F-4D97-AF65-F5344CB8AC3E}">
        <p14:creationId xmlns:p14="http://schemas.microsoft.com/office/powerpoint/2010/main" val="8453746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462F57-9427-46BE-8085-C6F03095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3.1 · AUTORIZAÇÃO E ESCOPO INICIAL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F9904-3FE1-476A-BF3C-8962B919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DA298-5030-4193-A598-22255CA6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65E52-D96F-4C19-8DA1-F82EFB4C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7597D-6A72-4527-B74A-EBCAF828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8FC"/>
                </a:solidFill>
              </a:defRPr>
            </a:pPr>
            <a:r>
              <a:rPr sz="2400" b="1">
                <a:solidFill>
                  <a:srgbClr val="F4F8FC"/>
                </a:solidFill>
              </a:rPr>
              <a:t>O TAP enquadra o projeto antes do detalhamento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2800C-E70F-4CCF-9CBB-0C9C8765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06E07-7658-4214-974E-93DC3D23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0">
            <a:solidFill>
              <a:srgbClr val="36C5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1304A-BF0A-4739-801B-31682621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19275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Por quê?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FCDE2-6304-4764-B738-2C79D1FB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19325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Propósito e justificativa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5F6D2-2FB3-41A2-9EAE-8DCB3FFD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66875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CC521-4F0F-443E-B76B-BD181FB3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6687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FF"/>
          </a:solidFill>
          <a:ln xmlns:a="http://schemas.openxmlformats.org/drawingml/2006/main" w="0">
            <a:solidFill>
              <a:srgbClr val="9A7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C6F16-8192-48C7-B5FA-0850107D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19275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O quê?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4BBF8-DD1E-4924-BF33-8923C412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19325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Objetivos e requisitos de alto nível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D6369-E382-4171-AC4C-5C27DA25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274F8-B29A-4085-BC0E-977B861D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55"/>
          </a:solidFill>
          <a:ln xmlns:a="http://schemas.openxmlformats.org/drawingml/2006/main" w="0">
            <a:solidFill>
              <a:srgbClr val="FFBE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98F26-258B-43B9-9095-AB31C39F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19275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Até onde?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A709B-FE31-4CD5-BD7C-CAF9F617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19325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Premissas, restrições e riscos iniciais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BA8D4-4AE1-48B2-B96E-F3530163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6B497F-AF9E-428E-A780-B83D0EB3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9A"/>
          </a:solidFill>
          <a:ln xmlns:a="http://schemas.openxmlformats.org/drawingml/2006/main" w="0">
            <a:solidFill>
              <a:srgbClr val="35D3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44ED61-378C-41DB-8434-83E6CD41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29025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Quando e quanto?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6A553-D303-401A-A642-0FE6768F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29075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Marcos e orçamento preliminar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7B43B-5A7D-4FB6-8490-B753A18E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3D2D6-7B54-48BD-B4EF-AB3E8B57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30B18F-E221-49C5-9051-9EBA5C09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29025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Quem lidera?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8B7A3-949F-4B37-A8AE-152F59F9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29075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GP, autoridade e patrocinador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C5ED7C-5E4F-46E4-A66A-42A11C03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81625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8FC"/>
                </a:solidFill>
              </a:defRPr>
            </a:pPr>
            <a:r>
              <a:rPr sz="1875" b="1">
                <a:solidFill>
                  <a:srgbClr val="F4F8FC"/>
                </a:solidFill>
              </a:rPr>
              <a:t>O TAP orienta; os documentos seguintes aprofundam.</a:t>
            </a:r>
          </a:p>
        </p:txBody>
      </p:sp>
    </p:spTree>
    <p:extLst>
      <p:ext uri="{BB962C8B-B14F-4D97-AF65-F5344CB8AC3E}">
        <p14:creationId xmlns:p14="http://schemas.microsoft.com/office/powerpoint/2010/main" val="17845742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1317C-3CA2-4A55-96F3-0A0EA62E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3.2 · COMPREENDER E DELIMITAR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CBF7A-4984-4D8B-8B4E-12F7ED93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EC810-B055-4A9D-8CC8-A6377179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6881B-72F9-4A3C-A0FD-A2E34BF1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C0B5B-6F23-4D18-9A6B-184EE3DA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8FC"/>
                </a:solidFill>
              </a:defRPr>
            </a:pPr>
            <a:r>
              <a:rPr sz="2250" b="1">
                <a:solidFill>
                  <a:srgbClr val="F4F8FC"/>
                </a:solidFill>
              </a:rPr>
              <a:t>A gestão do escopo forma um ciclo contínuo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A31A5-AC2F-4C31-9806-E9BEC1F6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9154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716be132c4634"/>
          <a:stretch xmlns:a="http://schemas.openxmlformats.org/drawingml/2006/main"/>
        </p:blipFill>
        <p:spPr>
          <a:xfrm xmlns:a="http://schemas.openxmlformats.org/drawingml/2006/main">
            <a:off x="954617" y="1438275"/>
            <a:ext cx="8263467" cy="4648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D9AE2-53B4-47F8-BA69-D7222A58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81125"/>
            <a:ext cx="1809750" cy="47625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2E2AE-02E8-434F-9260-997E1B8C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1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LEITURA-CHAVE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0F12C-E440-4190-8A71-7D32D512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19300"/>
            <a:ext cx="1428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C"/>
                </a:solidFill>
              </a:defRPr>
            </a:pPr>
            <a:r>
              <a:rPr sz="1350" b="1">
                <a:solidFill>
                  <a:srgbClr val="F4F8FC"/>
                </a:solidFill>
              </a:rPr>
              <a:t>Planejar, coletar, definir, decompor, validar e controlar formam um sistema contínuo.</a:t>
            </a:r>
          </a:p>
        </p:txBody>
      </p:sp>
    </p:spTree>
    <p:extLst>
      <p:ext uri="{BB962C8B-B14F-4D97-AF65-F5344CB8AC3E}">
        <p14:creationId xmlns:p14="http://schemas.microsoft.com/office/powerpoint/2010/main" val="458991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05432-A170-412D-A7AB-E462C2B0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3.2 · COMPREENDER E DELIMITAR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40A42-5975-41D6-89EF-CF52FA39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E4EB5-0643-46B7-8AA6-492CE524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EB348-F6EA-4F97-BF6B-9E521752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4BA82-81AA-4FE0-9979-351667B9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O escopo do projeto é maior que o pedido do cliente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64B35-24B1-4F7F-8130-1E9E11CB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57200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36C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07D05-9C25-4965-9E42-0A4436E9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6C5F0"/>
                </a:solidFill>
              </a:defRPr>
            </a:pPr>
            <a:r>
              <a:rPr sz="1650" b="1">
                <a:solidFill>
                  <a:srgbClr val="36C5F0"/>
                </a:solidFill>
              </a:rPr>
              <a:t>ESCOPO PARA O CLIENTE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8BE5D-19F9-4B4E-B839-8973D811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8FC"/>
                </a:solidFill>
              </a:defRPr>
            </a:pPr>
            <a:r>
              <a:rPr sz="1875" b="1">
                <a:solidFill>
                  <a:srgbClr val="F4F8FC"/>
                </a:solidFill>
              </a:rPr>
              <a:t>Produtos, serviços e resultados que satisfazem suas necessidades.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FFFF2-3DEA-42E8-BA6E-007E77C9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57200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9A7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642E4-0D83-48DE-8E4F-8B3BAEDB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288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A7BFF"/>
                </a:solidFill>
              </a:defRPr>
            </a:pPr>
            <a:r>
              <a:rPr sz="1650" b="1">
                <a:solidFill>
                  <a:srgbClr val="9A7BFF"/>
                </a:solidFill>
              </a:rPr>
              <a:t>ESCOPO DO PROJETO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D9001-6986-463F-B64E-5B17C779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24125"/>
            <a:ext cx="3667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8FC"/>
                </a:solidFill>
              </a:defRPr>
            </a:pPr>
            <a:r>
              <a:rPr sz="1800" b="1">
                <a:solidFill>
                  <a:srgbClr val="F4F8FC"/>
                </a:solidFill>
              </a:rPr>
              <a:t>Inclui as entregas ao cliente + todo o trabalho necessário para produzi-las, testá-las e aceitá-las.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4B6F0-6C6A-40D6-964E-68C6849C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Pedido explícito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C962D-D291-489A-A234-E8442F4F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2435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Aquisições · licenças · testes · treinamento · gestão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959D2-FF1A-4648-86BB-7825A024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E55"/>
                </a:solidFill>
              </a:defRPr>
            </a:pPr>
            <a:r>
              <a:rPr sz="1950" b="1">
                <a:solidFill>
                  <a:srgbClr val="FFBE55"/>
                </a:solidFill>
              </a:rPr>
              <a:t>A equipe precisa entender a necessidade, não apenas repetir a solicitação.</a:t>
            </a:r>
          </a:p>
        </p:txBody>
      </p:sp>
    </p:spTree>
    <p:extLst>
      <p:ext uri="{BB962C8B-B14F-4D97-AF65-F5344CB8AC3E}">
        <p14:creationId xmlns:p14="http://schemas.microsoft.com/office/powerpoint/2010/main" val="1166538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6FF97-5F14-4D07-9A64-B6164134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3.2 · 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D634B-0C3C-4A4F-A524-C286D2CB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27AA6-AA3F-4EDE-9FDE-78F3B818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57020-B3B9-4EF2-933E-CAC2AA57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828B0-B2B4-4B5A-ACE3-36AA1643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8FC"/>
                </a:solidFill>
              </a:defRPr>
            </a:pPr>
            <a:r>
              <a:rPr sz="2250" b="1">
                <a:solidFill>
                  <a:srgbClr val="F4F8FC"/>
                </a:solidFill>
              </a:rPr>
              <a:t>Requisitos ligam o problema à solução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49FC4-8701-4B08-90B2-31B2B489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9154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afe7345f6495a"/>
          <a:stretch xmlns:a="http://schemas.openxmlformats.org/drawingml/2006/main"/>
        </p:blipFill>
        <p:spPr>
          <a:xfrm xmlns:a="http://schemas.openxmlformats.org/drawingml/2006/main">
            <a:off x="954617" y="1438275"/>
            <a:ext cx="8263467" cy="4648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15F56-ED39-4802-8243-C7E5EA29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81125"/>
            <a:ext cx="1809750" cy="47625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B5EB0-585D-48AA-BF62-3427BBC5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1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LEITURA-CHAVE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32E65-6E9A-4DD9-A04D-1E672A90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19300"/>
            <a:ext cx="1428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C"/>
                </a:solidFill>
              </a:defRPr>
            </a:pPr>
            <a:r>
              <a:rPr sz="1350" b="1">
                <a:solidFill>
                  <a:srgbClr val="F4F8FC"/>
                </a:solidFill>
              </a:rPr>
              <a:t>Rastreabilidade permite verificar se a solução responde à necessidade que justificou o projeto.</a:t>
            </a:r>
          </a:p>
        </p:txBody>
      </p:sp>
    </p:spTree>
    <p:extLst>
      <p:ext uri="{BB962C8B-B14F-4D97-AF65-F5344CB8AC3E}">
        <p14:creationId xmlns:p14="http://schemas.microsoft.com/office/powerpoint/2010/main" val="292340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30094-FEFC-4495-BB41-1140FA15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3.2 · 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94BE6-B729-4FFF-B0A0-B6021D84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9AB22-A702-46A0-B385-BFFBA1CC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9DAEA-F827-4974-909B-A105674A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C541D-5C7C-49F3-969E-85008135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8FC"/>
                </a:solidFill>
              </a:defRPr>
            </a:pPr>
            <a:r>
              <a:rPr sz="2250" b="1">
                <a:solidFill>
                  <a:srgbClr val="F4F8FC"/>
                </a:solidFill>
              </a:rPr>
              <a:t>Cinco tipos de requisitos precisam coexistir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BA861-514C-4553-9C5A-B79FC108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9154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b0bdfdaf7458f"/>
          <a:stretch xmlns:a="http://schemas.openxmlformats.org/drawingml/2006/main"/>
        </p:blipFill>
        <p:spPr>
          <a:xfrm xmlns:a="http://schemas.openxmlformats.org/drawingml/2006/main">
            <a:off x="954617" y="1438275"/>
            <a:ext cx="8263467" cy="4648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6D17D-D402-4D32-A1ED-367FB84D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81125"/>
            <a:ext cx="1809750" cy="47625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34B3F-2813-4A72-8C42-C255BFE4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1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LEITURA-CHAVE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74BC9-60F8-4ABA-AF6D-1B65E01F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19300"/>
            <a:ext cx="1428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C"/>
                </a:solidFill>
              </a:defRPr>
            </a:pPr>
            <a:r>
              <a:rPr sz="1350" b="1">
                <a:solidFill>
                  <a:srgbClr val="F4F8FC"/>
                </a:solidFill>
              </a:rPr>
              <a:t>Operacionais, funcionais, não funcionais, técnicos e normativos precisam coexistir sem contradições.</a:t>
            </a:r>
          </a:p>
        </p:txBody>
      </p:sp>
    </p:spTree>
    <p:extLst>
      <p:ext uri="{BB962C8B-B14F-4D97-AF65-F5344CB8AC3E}">
        <p14:creationId xmlns:p14="http://schemas.microsoft.com/office/powerpoint/2010/main" val="19261637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2D8A78-B11A-49EE-8F8A-0199B6C2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3.2 · 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ED1FE-B106-4E10-977F-9D1D480E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95947-B95A-4F7F-9145-E3D5F0F8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A4884-D4FF-4D86-90A5-00A18D06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64320-ED2D-4D36-9073-A62F239B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8FC"/>
                </a:solidFill>
              </a:defRPr>
            </a:pPr>
            <a:r>
              <a:rPr sz="2400" b="1">
                <a:solidFill>
                  <a:srgbClr val="F4F8FC"/>
                </a:solidFill>
              </a:rPr>
              <a:t>Cada técnica revela uma dimensão dos requisitos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41D4D-3380-495A-BD30-76ABA626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3238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87E5A-F83F-4EC6-82BC-79144E91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0">
            <a:solidFill>
              <a:srgbClr val="36C5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FD637-E196-4B36-B1CF-F7A500FA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288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Entender o contexto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10830-1D6C-43D5-A0AC-6F37F073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28850"/>
            <a:ext cx="2838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Entrevistas</a:t>
            </a:r>
          </a:p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Observação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B127F-3F21-4A8D-AF75-C43D2B40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3238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B4F70-C984-4D5A-AFCC-EE6B13C7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FF"/>
          </a:solidFill>
          <a:ln xmlns:a="http://schemas.openxmlformats.org/drawingml/2006/main" w="0">
            <a:solidFill>
              <a:srgbClr val="9A7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C8852-B967-482F-AB80-E4ACAC8F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288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Construir consenso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5C03A-C5A7-4395-BF71-E058DB77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28850"/>
            <a:ext cx="2838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Grupos de foco</a:t>
            </a:r>
          </a:p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Workshops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605CB-EB4C-462A-AB6A-B3923DDD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76400"/>
            <a:ext cx="3238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29062-0700-4CA2-8186-CB17BE26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7640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55"/>
          </a:solidFill>
          <a:ln xmlns:a="http://schemas.openxmlformats.org/drawingml/2006/main" w="0">
            <a:solidFill>
              <a:srgbClr val="FFBE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A63B4-7103-46DC-93BC-A6115479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8288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Ampliar possibilidades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EC43B-F09D-4375-8308-F2B3C9A2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28850"/>
            <a:ext cx="2838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Brainstorming</a:t>
            </a:r>
          </a:p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Mapas mentais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DFFD8-3BB6-407A-8162-DC9A9C7F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14750"/>
            <a:ext cx="3238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C352B1-2C2C-45F5-BCD5-3C243867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1475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9A"/>
          </a:solidFill>
          <a:ln xmlns:a="http://schemas.openxmlformats.org/drawingml/2006/main" w="0">
            <a:solidFill>
              <a:srgbClr val="35D3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B78A1-CA25-4E41-BEC9-C646B0B6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671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Consultar muitos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B3722-1CEC-47BA-8530-68F2C197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67200"/>
            <a:ext cx="2838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Questionários</a:t>
            </a:r>
          </a:p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Pesquisas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8789D-7868-4054-B0D5-AD536655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32385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A8CD9C-B331-4467-B93A-7C9262F9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66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49466-B975-4AC4-B85D-D4D571C8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8671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Tornar concreto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FD5848-5E42-445F-80DB-ACFAF083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267200"/>
            <a:ext cx="2838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Protótipos</a:t>
            </a:r>
          </a:p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Opinião especializada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780BF2-D5C2-43CD-AE1C-84AE2E11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67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8FC"/>
                </a:solidFill>
              </a:defRPr>
            </a:pPr>
            <a:r>
              <a:rPr sz="1800" b="1">
                <a:solidFill>
                  <a:srgbClr val="F4F8FC"/>
                </a:solidFill>
              </a:rPr>
              <a:t>Coletar requisitos é investigar, confrontar e validar — não apenas anotar pedidos.</a:t>
            </a:r>
          </a:p>
        </p:txBody>
      </p:sp>
    </p:spTree>
    <p:extLst>
      <p:ext uri="{BB962C8B-B14F-4D97-AF65-F5344CB8AC3E}">
        <p14:creationId xmlns:p14="http://schemas.microsoft.com/office/powerpoint/2010/main" val="1498672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C1127-5534-458B-B4A3-78091B73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3.2 · 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6BBE8-9E3C-47EF-961E-EACFB787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A6F7D-0AF5-48ED-91D3-BAA4EB5B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B1EAB-2FCC-48F7-A75C-6FF47473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20928-C626-49A2-AC57-D4D6ED44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8FC"/>
                </a:solidFill>
              </a:defRPr>
            </a:pPr>
            <a:r>
              <a:rPr sz="2250" b="1">
                <a:solidFill>
                  <a:srgbClr val="F4F8FC"/>
                </a:solidFill>
              </a:rPr>
              <a:t>Requisitos amadurecem por ciclos de validação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CD110-BF22-474E-81E3-366CC540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9154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22a2275a04efc"/>
          <a:stretch xmlns:a="http://schemas.openxmlformats.org/drawingml/2006/main"/>
        </p:blipFill>
        <p:spPr>
          <a:xfrm xmlns:a="http://schemas.openxmlformats.org/drawingml/2006/main">
            <a:off x="954617" y="1438275"/>
            <a:ext cx="8263467" cy="4648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1E2C8-7FDE-463A-89F9-045936C1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81125"/>
            <a:ext cx="1809750" cy="47625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8208C-1F1A-4CE5-9CB2-8435807B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1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LEITURA-CHAVE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A9851-12B8-45EF-A0ED-08D00EC4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19300"/>
            <a:ext cx="1428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C"/>
                </a:solidFill>
              </a:defRPr>
            </a:pPr>
            <a:r>
              <a:rPr sz="1350" b="1">
                <a:solidFill>
                  <a:srgbClr val="F4F8FC"/>
                </a:solidFill>
              </a:rPr>
              <a:t>Ouvir → registrar → esclarecer → validar. A iteração reduz ambiguidades e limita o scope creep.</a:t>
            </a:r>
          </a:p>
        </p:txBody>
      </p:sp>
    </p:spTree>
    <p:extLst>
      <p:ext uri="{BB962C8B-B14F-4D97-AF65-F5344CB8AC3E}">
        <p14:creationId xmlns:p14="http://schemas.microsoft.com/office/powerpoint/2010/main" val="2405439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D269CF-BB60-4160-BC8B-9DE920B9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3.2 · 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9D04A-5DDB-4258-909F-D8D0CB70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6EF23-553D-48BD-B1C5-9F46DF4D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E7AAA-A46A-4A55-B9CF-B6A84CFF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FEF98-7B51-4F48-A34C-703DB5EA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Um requisito só ajuda se puder ser verificado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20A42-D925-4A65-A563-7D600CC6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23837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36C5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57329-9996-4FA9-9A10-CDCC8CB5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880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Consistente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9FFEC-7E29-4AD9-9868-B2FEB965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09750"/>
            <a:ext cx="223837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9A7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2F7D9-307F-455C-8B79-693D56C7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2880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Completo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73460-21F7-4FF8-B008-BA9EB898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23837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35D3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229BF-DCFC-4644-9FC3-44929A28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2880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Mensurável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E4D16-EB22-42E1-BB6C-F0DEA706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09750"/>
            <a:ext cx="223837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FFBE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DAC29-6DD7-4451-B9CC-DCADE93A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28800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Testável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051E4-D434-40BE-B6D1-AD754417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4F8FC"/>
                </a:solidFill>
              </a:defRPr>
            </a:pPr>
            <a:r>
              <a:rPr sz="1950" b="1">
                <a:solidFill>
                  <a:srgbClr val="F4F8FC"/>
                </a:solidFill>
              </a:rPr>
              <a:t>A matriz de rastreabilidade conecta cada requisito a: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12430-3F53-47A0-9099-72205305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176212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F3C1E-7E86-4C12-AE67-1C3630A1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origem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E5BB5-3C35-4243-89B2-FEDDF4BA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19500"/>
            <a:ext cx="176212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35563-17BC-41F4-AB50-2EB26CE6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3855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objetivo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0982E-F726-4700-9D4B-91FA2013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19500"/>
            <a:ext cx="176212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6A13B-462C-461E-9F8E-E407AD76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3855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entrega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0078F-6E7B-432C-9B8C-9709C479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19500"/>
            <a:ext cx="176212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F1865-5AA8-4CBF-8E6E-6E3C8F06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3855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critério de aceite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036C2-E26C-4D92-B735-19D1A2FB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19500"/>
            <a:ext cx="1762125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751741-1CE7-4261-8A84-B4A9F7FD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38550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E7AF30-5F27-4786-A892-B5EE1970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6C5F0"/>
                </a:solidFill>
              </a:defRPr>
            </a:pPr>
            <a:r>
              <a:rPr sz="2175" b="1">
                <a:solidFill>
                  <a:srgbClr val="36C5F0"/>
                </a:solidFill>
              </a:rPr>
              <a:t>Antes de aceitar ou alterar, a equipe precisa enxergar os impactos.</a:t>
            </a:r>
          </a:p>
        </p:txBody>
      </p:sp>
    </p:spTree>
    <p:extLst>
      <p:ext uri="{BB962C8B-B14F-4D97-AF65-F5344CB8AC3E}">
        <p14:creationId xmlns:p14="http://schemas.microsoft.com/office/powerpoint/2010/main" val="15247162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A787E-3D18-4EEF-9ED9-A7538C2A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3.2 · DELIMITAÇÃO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DA7AC-3D6E-4BDD-A839-B206006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6DDE1-25B2-4A76-8643-02BD3686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B22D6-0B9E-41D7-8725-4F75D8B5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31ED0-2C22-462E-BB0E-94261BF4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8FC"/>
                </a:solidFill>
              </a:defRPr>
            </a:pPr>
            <a:r>
              <a:rPr sz="2250" b="1">
                <a:solidFill>
                  <a:srgbClr val="F4F8FC"/>
                </a:solidFill>
              </a:rPr>
              <a:t>O não escopo protege as fronteiras do projeto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7CA9E-F792-4D98-BF80-00DC409F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9154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9ee1381034cd6"/>
          <a:stretch xmlns:a="http://schemas.openxmlformats.org/drawingml/2006/main"/>
        </p:blipFill>
        <p:spPr>
          <a:xfrm xmlns:a="http://schemas.openxmlformats.org/drawingml/2006/main">
            <a:off x="954617" y="1438275"/>
            <a:ext cx="8263467" cy="4648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3FEB9-E3C3-4621-945E-6A5044F7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81125"/>
            <a:ext cx="1809750" cy="47625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999EC-FE3A-49BD-9C50-04FBEB3A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1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LEITURA-CHAVE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27D6F-8365-403E-85C2-29943FA3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19300"/>
            <a:ext cx="1428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C"/>
                </a:solidFill>
              </a:defRPr>
            </a:pPr>
            <a:r>
              <a:rPr sz="1350" b="1">
                <a:solidFill>
                  <a:srgbClr val="F4F8FC"/>
                </a:solidFill>
              </a:rPr>
              <a:t>Declaração, premissas, limites e interfaces tornam responsabilidades explícitas e reduzem expectativas incompatíveis.</a:t>
            </a:r>
          </a:p>
        </p:txBody>
      </p:sp>
    </p:spTree>
    <p:extLst>
      <p:ext uri="{BB962C8B-B14F-4D97-AF65-F5344CB8AC3E}">
        <p14:creationId xmlns:p14="http://schemas.microsoft.com/office/powerpoint/2010/main" val="150314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27D44-DA5C-41CF-8BC5-FB1D861C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3.2 · DEFINIR O ESCOPO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B601F-D54C-419D-8207-32791CE8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4C3A2-A699-43B2-8D13-5A66B96B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6FF1D-C7A7-42DC-9BFA-645DA586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E39E3-24A0-4CD1-8E63-5998BCFF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Definir escopo exige compreender o produto e escolher uma estratégia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EA3CA-2591-43F8-968B-E47ACE3A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B0406-CE24-41CB-9E9C-1DF70704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0">
            <a:solidFill>
              <a:srgbClr val="36C5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50CCC-F01A-408E-B028-B852B277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669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1 · Analisar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C096E-8C21-48E5-9060-0CA9AAA3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66950"/>
            <a:ext cx="29337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Conhecer funções, tecnologia, interfaces e critérios do produto.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DC1D2-1DE1-4986-9101-11CC9267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A9B9E-9BA2-443B-A2B7-3644DEDF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FF"/>
          </a:solidFill>
          <a:ln xmlns:a="http://schemas.openxmlformats.org/drawingml/2006/main" w="0">
            <a:solidFill>
              <a:srgbClr val="9A7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6CE30-BAFE-4308-BF84-E6686496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669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2 · Divergir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B7B08-CCB4-4A4B-AE16-5E02A6CF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66950"/>
            <a:ext cx="29337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Gerar alternativas sem julgamento prematuro: brainstorming e pensamento lateral.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44669-EC00-42DA-B874-BA716F1F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145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1EDE5-7B67-432B-B91A-EDE5CE38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145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9A"/>
          </a:solidFill>
          <a:ln xmlns:a="http://schemas.openxmlformats.org/drawingml/2006/main" w="0">
            <a:solidFill>
              <a:srgbClr val="35D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4C0C2-8F97-4D71-88B7-73FA1BC9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8669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3 · Convergir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3255F5-7812-4DF9-9355-13DEB394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66950"/>
            <a:ext cx="29337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Comparar prazo, custo, desempenho, riscos, recursos e restrições.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C5A4C-3DB6-4FDE-913D-FD67F897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BE55"/>
                </a:solidFill>
              </a:defRPr>
            </a:pPr>
            <a:r>
              <a:rPr sz="2175" b="1">
                <a:solidFill>
                  <a:srgbClr val="FFBE55"/>
                </a:solidFill>
              </a:rPr>
              <a:t>A opção escolhida torna-se parte da estratégia de condução do projeto.</a:t>
            </a:r>
          </a:p>
        </p:txBody>
      </p:sp>
    </p:spTree>
    <p:extLst>
      <p:ext uri="{BB962C8B-B14F-4D97-AF65-F5344CB8AC3E}">
        <p14:creationId xmlns:p14="http://schemas.microsoft.com/office/powerpoint/2010/main" val="17449337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0FE0EA-38C4-4239-ADDA-D6BDD6CB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3.2 · DECLARAÇÃO DO ESCOPO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6DCCA-016F-4942-9723-3496B3E8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AA5FC-D338-416B-A5DE-30FD80BA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B0832-01B3-4294-AFB6-C9E65DE9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ED063-4902-459E-B852-2253118A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A Declaração do Escopo consolida o entendimento comum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5845A-77AA-4128-9F8E-52AF22D0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922EA-854E-4926-8111-1D383403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0">
            <a:solidFill>
              <a:srgbClr val="36C5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AFE6C-526F-4A5E-A22E-F3AEC847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57375"/>
            <a:ext cx="290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Escopo do cliente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95EFF-6284-43FA-9286-B48519B3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3882B-75E6-4499-8BE9-D34EC56A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BFF"/>
          </a:solidFill>
          <a:ln xmlns:a="http://schemas.openxmlformats.org/drawingml/2006/main" w="0">
            <a:solidFill>
              <a:srgbClr val="9A7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5A4CE-3437-4523-BFE1-A766196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57375"/>
            <a:ext cx="290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Principais entregas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BD353-FED7-4ADD-A5B8-31D289FB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31FAC-87EC-4529-8245-006B2B7F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C9870-8A28-478F-A4D2-D0889402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57375"/>
            <a:ext cx="290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Limites e não escopo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07A2B-38E7-4108-B39E-8AA2703E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7F27D-FE8B-416E-A849-0C4A5CD9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39A"/>
          </a:solidFill>
          <a:ln xmlns:a="http://schemas.openxmlformats.org/drawingml/2006/main" w="0">
            <a:solidFill>
              <a:srgbClr val="35D3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A1321-EE75-40B5-A502-DF6DAA37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86125"/>
            <a:ext cx="290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Critérios de aceite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B725F-F9F2-4345-81FF-345C31A9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9562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38889-A60A-4A4C-9943-E5877C85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9562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55"/>
          </a:solidFill>
          <a:ln xmlns:a="http://schemas.openxmlformats.org/drawingml/2006/main" w="0">
            <a:solidFill>
              <a:srgbClr val="FFBE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5E1B4-6078-4C0F-B09C-245A0DA4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290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Estratégia de condução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555AA-DD3F-4008-9B9C-91E5F8B1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9562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532537-D24D-49A2-87AE-C8AF90B0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9562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0">
            <a:solidFill>
              <a:srgbClr val="36C5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06AC03-5F49-423C-AC80-1A353B42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86125"/>
            <a:ext cx="290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8FC"/>
                </a:solidFill>
              </a:defRPr>
            </a:pPr>
            <a:r>
              <a:rPr sz="1650" b="1">
                <a:solidFill>
                  <a:srgbClr val="F4F8FC"/>
                </a:solidFill>
              </a:rPr>
              <a:t>Premissas e restrições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5FCFAD-2C15-4665-8C5D-79E09486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4825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BE55"/>
                </a:solidFill>
              </a:defRPr>
            </a:pPr>
            <a:r>
              <a:rPr sz="2100" b="1">
                <a:solidFill>
                  <a:srgbClr val="FFBE55"/>
                </a:solidFill>
              </a:rPr>
              <a:t>Detalhar pode esclarecer o TAP — não alterá-lo informalmente.</a:t>
            </a:r>
          </a:p>
        </p:txBody>
      </p:sp>
    </p:spTree>
    <p:extLst>
      <p:ext uri="{BB962C8B-B14F-4D97-AF65-F5344CB8AC3E}">
        <p14:creationId xmlns:p14="http://schemas.microsoft.com/office/powerpoint/2010/main" val="20045568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AAFCD-7A2D-4258-BCB7-6CA5A702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3.3 · ESTRUTURAR O ESCOPO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36C27-642E-4953-B6AC-00052B51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0C12A-99ED-4253-951B-AC493CBA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79E5D-1A3B-426F-A5B6-36D8AC7A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E965A-DEC1-4DB0-8932-83241FE9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8FC"/>
                </a:solidFill>
              </a:defRPr>
            </a:pPr>
            <a:r>
              <a:rPr sz="2850" b="1">
                <a:solidFill>
                  <a:srgbClr val="F4F8FC"/>
                </a:solidFill>
              </a:rPr>
              <a:t>A EAP decompõe o escopo em partes gerenciáveis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1980F-4690-4739-B47B-E26E90D2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5D39A"/>
                </a:solidFill>
              </a:defRPr>
            </a:pPr>
            <a:r>
              <a:rPr sz="3600" b="1">
                <a:solidFill>
                  <a:srgbClr val="35D39A"/>
                </a:solidFill>
              </a:rPr>
              <a:t>EAP / WBS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2F25E-8374-43B1-AFEA-BC2ACE43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8FC"/>
                </a:solidFill>
              </a:defRPr>
            </a:pPr>
            <a:r>
              <a:rPr sz="2175" b="1">
                <a:solidFill>
                  <a:srgbClr val="F4F8FC"/>
                </a:solidFill>
              </a:rPr>
              <a:t>Decomposição hierárquica orientada às entregas.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ED54E-8204-470A-B462-8129C61D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476250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006D2-C1BB-4D10-B3F5-0DA25C7B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431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6C5F0"/>
                </a:solidFill>
              </a:defRPr>
            </a:pPr>
            <a:r>
              <a:rPr sz="2100" b="1">
                <a:solidFill>
                  <a:srgbClr val="36C5F0"/>
                </a:solidFill>
              </a:rPr>
              <a:t>Projeto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AB632-E57D-4938-9344-5E4D9743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9B7C8"/>
                </a:solidFill>
              </a:defRPr>
            </a:pPr>
            <a:r>
              <a:rPr sz="2100" b="1">
                <a:solidFill>
                  <a:srgbClr val="A9B7C8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A03C3-9D31-4BC7-9446-A2FD0339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A7BFF"/>
                </a:solidFill>
              </a:defRPr>
            </a:pPr>
            <a:r>
              <a:rPr sz="1950" b="1">
                <a:solidFill>
                  <a:srgbClr val="9A7BFF"/>
                </a:solidFill>
              </a:rPr>
              <a:t>Entregas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A8087-335D-4C5E-9EE8-ADABD578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9B7C8"/>
                </a:solidFill>
              </a:defRPr>
            </a:pPr>
            <a:r>
              <a:rPr sz="2100" b="1">
                <a:solidFill>
                  <a:srgbClr val="A9B7C8"/>
                </a:solidFill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A9982-9AA7-4754-BCB1-C8C378CC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480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5D39A"/>
                </a:solidFill>
              </a:defRPr>
            </a:pPr>
            <a:r>
              <a:rPr sz="1875" b="1">
                <a:solidFill>
                  <a:srgbClr val="35D39A"/>
                </a:solidFill>
              </a:rPr>
              <a:t>Pacotes de trabalho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B79E6-0E03-4ABA-B8AF-3C82CBF1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BE55"/>
                </a:solidFill>
              </a:defRPr>
            </a:pPr>
            <a:r>
              <a:rPr sz="2175" b="1">
                <a:solidFill>
                  <a:srgbClr val="FFBE55"/>
                </a:solidFill>
              </a:rPr>
              <a:t>A EAP representa resultados; as atividades vêm depois.</a:t>
            </a:r>
          </a:p>
        </p:txBody>
      </p:sp>
    </p:spTree>
    <p:extLst>
      <p:ext uri="{BB962C8B-B14F-4D97-AF65-F5344CB8AC3E}">
        <p14:creationId xmlns:p14="http://schemas.microsoft.com/office/powerpoint/2010/main" val="5863123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0E9F4-25C1-41C1-8D67-E21057BC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3.3 · ESTRUTURAR O ESCOPO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046EC-34F3-4EC6-85CB-B56ABF80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65B31-222F-4C67-8687-1113F566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8F685-8339-4688-893D-36DD9936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F80E6-916C-45ED-ADC9-ED625C41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8FC"/>
                </a:solidFill>
              </a:defRPr>
            </a:pPr>
            <a:r>
              <a:rPr sz="2250" b="1">
                <a:solidFill>
                  <a:srgbClr val="F4F8FC"/>
                </a:solidFill>
              </a:rPr>
              <a:t>A EAP revela todo o trabalho do projeto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E7C5C-712E-4A02-9E67-F64F5A88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9154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8b11f2a3b4d65"/>
          <a:stretch xmlns:a="http://schemas.openxmlformats.org/drawingml/2006/main"/>
        </p:blipFill>
        <p:spPr>
          <a:xfrm xmlns:a="http://schemas.openxmlformats.org/drawingml/2006/main">
            <a:off x="954617" y="1438275"/>
            <a:ext cx="8263467" cy="4648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12F68-DA03-4378-B7E2-F1C7E28A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81125"/>
            <a:ext cx="1809750" cy="47625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04BED-F875-4869-BA58-35189D6C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1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LEITURA-CHAVE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D178D-6CF5-4990-AD8C-8A9D7776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19300"/>
            <a:ext cx="1428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C"/>
                </a:solidFill>
              </a:defRPr>
            </a:pPr>
            <a:r>
              <a:rPr sz="1350" b="1">
                <a:solidFill>
                  <a:srgbClr val="F4F8FC"/>
                </a:solidFill>
              </a:rPr>
              <a:t>Os códigos indicam posição na decomposição. Eles não definem ordem de execução nem precedência.</a:t>
            </a:r>
          </a:p>
        </p:txBody>
      </p:sp>
    </p:spTree>
    <p:extLst>
      <p:ext uri="{BB962C8B-B14F-4D97-AF65-F5344CB8AC3E}">
        <p14:creationId xmlns:p14="http://schemas.microsoft.com/office/powerpoint/2010/main" val="6333573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4DFF3-76FE-4754-9DBE-7434E971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3.3 · LINHA DE 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C5B08-DEC4-4A7C-AB4F-515D1250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291B9-B93E-48CA-BC70-E7837FEA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50677-09CE-4BE0-9760-3F0EB274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7D7E3-760F-4242-9C86-A8B49882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8FC"/>
                </a:solidFill>
              </a:defRPr>
            </a:pPr>
            <a:r>
              <a:rPr sz="2250" b="1">
                <a:solidFill>
                  <a:srgbClr val="F4F8FC"/>
                </a:solidFill>
              </a:rPr>
              <a:t>Os artefatos precisam permanecer conectados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2DEB1-30F3-4DA0-A42F-446E8BA9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89154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423e9c25444ad"/>
          <a:stretch xmlns:a="http://schemas.openxmlformats.org/drawingml/2006/main"/>
        </p:blipFill>
        <p:spPr>
          <a:xfrm xmlns:a="http://schemas.openxmlformats.org/drawingml/2006/main">
            <a:off x="954617" y="1438275"/>
            <a:ext cx="8263467" cy="4648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8DD49-216D-4963-9C66-81F411BE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381125"/>
            <a:ext cx="1809750" cy="47625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CB023-0502-4BB9-9D7A-AE138E38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1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LEITURA-CHAVE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532A8-FDE7-456B-9944-5A67CEB3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19300"/>
            <a:ext cx="1428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C"/>
                </a:solidFill>
              </a:defRPr>
            </a:pPr>
            <a:r>
              <a:rPr sz="1350" b="1">
                <a:solidFill>
                  <a:srgbClr val="F4F8FC"/>
                </a:solidFill>
              </a:rPr>
              <a:t>Requisitos sustentam escopo e EAP; a linha de base orienta o controle; mudanças aprovadas atualizam os registros.</a:t>
            </a:r>
          </a:p>
        </p:txBody>
      </p:sp>
    </p:spTree>
    <p:extLst>
      <p:ext uri="{BB962C8B-B14F-4D97-AF65-F5344CB8AC3E}">
        <p14:creationId xmlns:p14="http://schemas.microsoft.com/office/powerpoint/2010/main" val="16709146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017C9-9D3B-4BC3-8A0D-A1D8FE5E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3.3 · INTEGRAÇÃO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30402-2125-4D09-8E0A-DCBF1E40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64ACA-B2D7-4DDC-8E91-41CC8BCD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1E28C-20F8-48EF-A035-81342AD3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FD2B8-5EA1-4F77-92A2-57DED746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C"/>
                </a:solidFill>
              </a:defRPr>
            </a:pPr>
            <a:r>
              <a:rPr sz="2550" b="1">
                <a:solidFill>
                  <a:srgbClr val="F4F8FC"/>
                </a:solidFill>
              </a:rPr>
              <a:t>A EAP conecta o escopo aos demais planos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055B8-B4A0-49A0-B2FE-A3F12F09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3048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35D3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62E17-7624-4487-86D8-BF8698F6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193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5D39A"/>
                </a:solidFill>
              </a:defRPr>
            </a:pPr>
            <a:r>
              <a:rPr sz="2850" b="1">
                <a:solidFill>
                  <a:srgbClr val="35D39A"/>
                </a:solidFill>
              </a:rPr>
              <a:t>EAP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A975F-DED4-49AD-A5EB-5F0144EC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B7C8"/>
                </a:solidFill>
              </a:defRPr>
            </a:pPr>
            <a:r>
              <a:rPr sz="1275" b="0">
                <a:solidFill>
                  <a:srgbClr val="A9B7C8"/>
                </a:solidFill>
              </a:rPr>
              <a:t>escopo estruturado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EC5B9-B963-4936-8658-5EA0DC84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857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36C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6F116-47F2-48F9-8241-54E46515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Cronograma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FA493-9785-4B1A-ADC7-E6501B3D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857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9A7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5FA06-35BE-47C5-8591-5B0E7BA6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Custos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73775-3A69-441F-AEDB-0ACF30D8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2857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FFBE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5E57A-427B-4BAF-8827-3554F990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672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Recursos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0342C-3182-4C92-BA35-91CC3F60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857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8B841-281A-460F-9431-51EF4FEF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Riscos e qualidade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214CB-8704-4DD2-9F32-8455920E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857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35D3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39FA8-E133-4EC5-863C-0DED20B9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050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8FC"/>
                </a:solidFill>
              </a:defRPr>
            </a:pPr>
            <a:r>
              <a:rPr sz="1725" b="1">
                <a:solidFill>
                  <a:srgbClr val="F4F8FC"/>
                </a:solidFill>
              </a:rPr>
              <a:t>Aquisições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B9D9E-2BFA-44AD-BB25-57714F20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7150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8FC"/>
                </a:solidFill>
              </a:defRPr>
            </a:pPr>
            <a:r>
              <a:rPr sz="1800" b="1">
                <a:solidFill>
                  <a:srgbClr val="F4F8FC"/>
                </a:solidFill>
              </a:rPr>
              <a:t>Todos os planos devem referir-se ao mesmo conjunto de entregas.</a:t>
            </a:r>
          </a:p>
        </p:txBody>
      </p:sp>
    </p:spTree>
    <p:extLst>
      <p:ext uri="{BB962C8B-B14F-4D97-AF65-F5344CB8AC3E}">
        <p14:creationId xmlns:p14="http://schemas.microsoft.com/office/powerpoint/2010/main" val="6463226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9CBFFC-AC71-4596-A782-3D1F9553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3.4 · INTERFACE COM O CRONOGRAMA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3F935-CB0E-4F61-A993-156EAC6C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36FF6-07D7-4183-91A4-8D9D9E4A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FB5AE-6CC6-4D0D-A6CF-5959C7BA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777E5-18B4-44A3-A343-2DFA4458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C"/>
                </a:solidFill>
              </a:defRPr>
            </a:pPr>
            <a:r>
              <a:rPr sz="2550" b="1">
                <a:solidFill>
                  <a:srgbClr val="F4F8FC"/>
                </a:solidFill>
              </a:rPr>
              <a:t>A EAP fornece a base para detalhar o cronograma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80181-7F25-498F-8DEB-FCF487DE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5D39A"/>
                </a:solidFill>
              </a:defRPr>
            </a:pPr>
            <a:r>
              <a:rPr sz="1800" b="1">
                <a:solidFill>
                  <a:srgbClr val="35D39A"/>
                </a:solidFill>
              </a:rPr>
              <a:t>Pacote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FD3A4-1EBB-45C6-85BB-919346AF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668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9B7C8"/>
                </a:solidFill>
              </a:defRPr>
            </a:pPr>
            <a:r>
              <a:rPr sz="2100" b="1">
                <a:solidFill>
                  <a:srgbClr val="A9B7C8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216BA-AC8D-4C51-A573-97BF4094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668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6C5F0"/>
                </a:solidFill>
              </a:defRPr>
            </a:pPr>
            <a:r>
              <a:rPr sz="1800" b="1">
                <a:solidFill>
                  <a:srgbClr val="36C5F0"/>
                </a:solidFill>
              </a:rPr>
              <a:t>Atividades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FEECA-AC30-4EB9-8CD2-017BCE78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668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9B7C8"/>
                </a:solidFill>
              </a:defRPr>
            </a:pPr>
            <a:r>
              <a:rPr sz="2100" b="1">
                <a:solidFill>
                  <a:srgbClr val="A9B7C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8021E-4A3D-4C5E-8C32-02DC7AA9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668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A7BFF"/>
                </a:solidFill>
              </a:defRPr>
            </a:pPr>
            <a:r>
              <a:rPr sz="1800" b="1">
                <a:solidFill>
                  <a:srgbClr val="9A7BFF"/>
                </a:solidFill>
              </a:rPr>
              <a:t>Dependências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6C951-17FF-4865-A00C-0DAC7D6F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9B7C8"/>
                </a:solidFill>
              </a:defRPr>
            </a:pPr>
            <a:r>
              <a:rPr sz="2100" b="1">
                <a:solidFill>
                  <a:srgbClr val="A9B7C8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69914-3385-4BE8-94E7-054317D0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BE55"/>
                </a:solidFill>
              </a:defRPr>
            </a:pPr>
            <a:r>
              <a:rPr sz="1800" b="1">
                <a:solidFill>
                  <a:srgbClr val="FFBE55"/>
                </a:solidFill>
              </a:rPr>
              <a:t>Gantt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FEC7A-E3B3-422C-8D70-400D32CF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0668000" cy="27622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9525">
            <a:solidFill>
              <a:srgbClr val="29415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28E0D-F3E3-4AA5-8442-058597E7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5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8289B-E7A5-40CB-97B4-09E9A17C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66A01-F4B1-4840-A712-935C24BC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5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68FE8-1207-428B-A11B-8A2DA337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575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83186-7434-42BC-B940-D6C11C92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A0713-1242-47F5-9201-790115CA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DB106E-3247-493B-A504-4D78C28F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5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19017-9F67-40E7-9968-0467129D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625CE2-CFAF-40C1-AB1E-F92ECFB4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5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3C044E-356C-4CE2-B1C8-7921DAD1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3438F0-DF2C-42B2-99C3-FFE449F9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EA25A4-9C2F-4BCB-8568-7B916093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872202-7D65-4495-8A12-1D442325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5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654A04-8006-4C83-AB36-4CEF18A3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575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F94663-2FDB-4C07-9C19-8AA25CFA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CADB69-BF53-4F58-BBCB-73FF9636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B53586-2A1D-4912-BC2B-C0249224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5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FC25F5-D99C-4C54-B252-0895AF4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9CD5EF-D668-4056-8EBF-5D3606F0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5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ACB225-5E28-47F9-9B72-9DC4CC1E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575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9E8FA6-0301-40F0-9A05-5999108A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9B7C8"/>
                </a:solidFill>
              </a:defRPr>
            </a:pPr>
            <a:r>
              <a:rPr sz="975" b="1">
                <a:solidFill>
                  <a:srgbClr val="A9B7C8"/>
                </a:solidFill>
              </a:rPr>
              <a:t>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A5BC1B-9656-432A-B230-2ED4AD55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02D916-62A0-43FC-A054-7A9EDDAA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A · Preparar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EC722D-046C-495E-B98D-98088F01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21526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6C5F0"/>
          </a:solidFill>
          <a:ln xmlns:a="http://schemas.openxmlformats.org/drawingml/2006/main" w="0">
            <a:solidFill>
              <a:srgbClr val="36C5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DA624D-B59B-4CC7-9C88-5B0EF179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B · Desenvolver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331BE5-ED2F-41F5-8589-A277DAA2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76625"/>
            <a:ext cx="36385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9A7BFF"/>
          </a:solidFill>
          <a:ln xmlns:a="http://schemas.openxmlformats.org/drawingml/2006/main" w="0">
            <a:solidFill>
              <a:srgbClr val="9A7B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C33385-6B7D-4504-8B52-EF676609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C · Testar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DA9DBB-A3C0-439C-9C5C-3B76E66A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52875"/>
            <a:ext cx="21526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5D39A"/>
          </a:solidFill>
          <a:ln xmlns:a="http://schemas.openxmlformats.org/drawingml/2006/main" w="0">
            <a:solidFill>
              <a:srgbClr val="35D39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90CBB2-F959-4D40-B53D-1CFBE491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D · Entregar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3777B7-401A-424D-8804-5EF1FDDA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29125"/>
            <a:ext cx="66675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BE55"/>
          </a:solidFill>
          <a:ln xmlns:a="http://schemas.openxmlformats.org/drawingml/2006/main" w="0">
            <a:solidFill>
              <a:srgbClr val="FFBE5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F8D8AF-C32F-4A0F-848A-092CA924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E55"/>
                </a:solidFill>
              </a:defRPr>
            </a:pPr>
            <a:r>
              <a:rPr sz="1650" b="1">
                <a:solidFill>
                  <a:srgbClr val="FFBE55"/>
                </a:solidFill>
              </a:rPr>
              <a:t>O Gantt representa o prazo; ele não integra a linha de base do escopo.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295CF4-85A8-4518-B57B-1BD469D8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102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7C8"/>
                </a:solidFill>
              </a:defRPr>
            </a:pPr>
            <a:r>
              <a:rPr sz="1350" b="0">
                <a:solidFill>
                  <a:srgbClr val="A9B7C8"/>
                </a:solidFill>
              </a:rPr>
              <a:t>TI · II · TT · IT expressam relações; marcos têm duração zero.</a:t>
            </a:r>
          </a:p>
        </p:txBody>
      </p:sp>
    </p:spTree>
    <p:extLst>
      <p:ext uri="{BB962C8B-B14F-4D97-AF65-F5344CB8AC3E}">
        <p14:creationId xmlns:p14="http://schemas.microsoft.com/office/powerpoint/2010/main" val="3454580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0FAA8-79FA-4FA6-B3DA-81D7EA74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C5F0"/>
                </a:solidFill>
              </a:defRPr>
            </a:pPr>
            <a:r>
              <a:rPr sz="975" b="1">
                <a:solidFill>
                  <a:srgbClr val="36C5F0"/>
                </a:solidFill>
              </a:rPr>
              <a:t>3.5 · INTEGRAR E CONTROLAR O ESCOPO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BFB4E-02F0-4A84-AF25-37953E7C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65FFB-7D93-49D8-AE9C-34568E41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7C8"/>
                </a:solidFill>
              </a:defRPr>
            </a:pPr>
            <a:r>
              <a:rPr sz="900" b="1">
                <a:solidFill>
                  <a:srgbClr val="A9B7C8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E0674-5C94-4C1A-A2D1-B020DA5F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C8"/>
                </a:solidFill>
              </a:defRPr>
            </a:pPr>
            <a:r>
              <a:rPr sz="825" b="0">
                <a:solidFill>
                  <a:srgbClr val="A9B7C8"/>
                </a:solidFill>
              </a:rPr>
              <a:t>GESTÃO DE PROJETOS · UNIDADE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62FAE-9F7C-4E11-9F87-B602CD02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8FC"/>
                </a:solidFill>
              </a:defRPr>
            </a:pPr>
            <a:r>
              <a:rPr sz="2400" b="1">
                <a:solidFill>
                  <a:srgbClr val="F4F8FC"/>
                </a:solidFill>
              </a:rPr>
              <a:t>O plano de gerenciamento mantém a coerência do escopo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8D640-9450-44C9-8A34-821E9BCD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6C5F0"/>
                </a:solidFill>
              </a:defRPr>
            </a:pPr>
            <a:r>
              <a:rPr sz="2025" b="1">
                <a:solidFill>
                  <a:srgbClr val="36C5F0"/>
                </a:solidFill>
              </a:rPr>
              <a:t>Executar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51DFA-5D09-49A0-8520-83038894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A7BFF"/>
                </a:solidFill>
              </a:defRPr>
            </a:pPr>
            <a:r>
              <a:rPr sz="2025" b="1">
                <a:solidFill>
                  <a:srgbClr val="9A7BFF"/>
                </a:solidFill>
              </a:rPr>
              <a:t>Monitorar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858B1-0FD4-4D5B-A46B-9A533632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5D39A"/>
                </a:solidFill>
              </a:defRPr>
            </a:pPr>
            <a:r>
              <a:rPr sz="2025" b="1">
                <a:solidFill>
                  <a:srgbClr val="35D39A"/>
                </a:solidFill>
              </a:rPr>
              <a:t>Controlar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381EF-F003-40B3-BAD2-C9EF44CD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573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BE55"/>
                </a:solidFill>
              </a:defRPr>
            </a:pPr>
            <a:r>
              <a:rPr sz="2025" b="1">
                <a:solidFill>
                  <a:srgbClr val="FFBE55"/>
                </a:solidFill>
              </a:rPr>
              <a:t>Encerrar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33533-4BA8-4410-83BD-568FA38C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981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9"/>
          </a:solidFill>
          <a:ln xmlns:a="http://schemas.openxmlformats.org/drawingml/2006/main" w="0">
            <a:solidFill>
              <a:srgbClr val="2941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725A3-0780-4029-91EB-60FEE35E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6C5F0"/>
                </a:solidFill>
              </a:defRPr>
            </a:pPr>
            <a:r>
              <a:rPr sz="1650" b="1">
                <a:solidFill>
                  <a:srgbClr val="36C5F0"/>
                </a:solidFill>
              </a:rPr>
              <a:t>TAP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64F27-3EDF-4EB8-A64A-F149C6F2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A7BFF"/>
                </a:solidFill>
              </a:defRPr>
            </a:pPr>
            <a:r>
              <a:rPr sz="1650" b="1">
                <a:solidFill>
                  <a:srgbClr val="9A7BFF"/>
                </a:solidFill>
              </a:rPr>
              <a:t>Requisitos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FE742-8F9B-4684-B946-D4E83C2F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5D39A"/>
                </a:solidFill>
              </a:defRPr>
            </a:pPr>
            <a:r>
              <a:rPr sz="1650" b="1">
                <a:solidFill>
                  <a:srgbClr val="35D39A"/>
                </a:solidFill>
              </a:rPr>
              <a:t>Escopo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63A6E-7D1D-4761-AC20-0934F762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E55"/>
                </a:solidFill>
              </a:defRPr>
            </a:pPr>
            <a:r>
              <a:rPr sz="1650" b="1">
                <a:solidFill>
                  <a:srgbClr val="FFBE55"/>
                </a:solidFill>
              </a:rPr>
              <a:t>EAP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F2A71-CEF2-4E6F-8393-A317837C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6C5F0"/>
                </a:solidFill>
              </a:defRPr>
            </a:pPr>
            <a:r>
              <a:rPr sz="1650" b="1">
                <a:solidFill>
                  <a:srgbClr val="36C5F0"/>
                </a:solidFill>
              </a:rPr>
              <a:t>Cronograma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57856-856A-4292-9ECF-7831E7B3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942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4F8FC"/>
                </a:solidFill>
              </a:defRPr>
            </a:pPr>
            <a:r>
              <a:rPr sz="2325" b="1">
                <a:solidFill>
                  <a:srgbClr val="F4F8FC"/>
                </a:solidFill>
              </a:rPr>
              <a:t>Uma mudança relevante precisa repercutir nos artefatos afetados — com análise, aprovação e rastreabilidade.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A2F5C-639B-4ED1-8AEF-A100A9B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768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9B7C8"/>
                </a:solidFill>
              </a:defRPr>
            </a:pPr>
            <a:r>
              <a:rPr sz="1725" b="0">
                <a:solidFill>
                  <a:srgbClr val="A9B7C8"/>
                </a:solidFill>
              </a:rPr>
              <a:t>Síntese: autorizar → compreender → delimitar → decompor → programar → controlar.</a:t>
            </a:r>
          </a:p>
        </p:txBody>
      </p:sp>
    </p:spTree>
    <p:extLst>
      <p:ext uri="{BB962C8B-B14F-4D97-AF65-F5344CB8AC3E}">
        <p14:creationId xmlns:p14="http://schemas.microsoft.com/office/powerpoint/2010/main" val="278738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2026-09-03T17:28:38.0380000Z</dcterms:created>
  <dcterms:modified xsi:type="dcterms:W3CDTF">2026-09-03T17:28:38.0380000Z</dcterms:modified>
</coreProperties>
</file>