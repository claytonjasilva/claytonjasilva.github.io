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3" r:id="rId6"/>
    <p:sldId id="260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4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yton Silva" userId="29ef9a7b83f2ddc4" providerId="LiveId" clId="{58335943-2BE6-42EC-897C-A1C4427AB656}"/>
    <pc:docChg chg="undo custSel addSld delSld modSld sldOrd">
      <pc:chgData name="Clayton Silva" userId="29ef9a7b83f2ddc4" providerId="LiveId" clId="{58335943-2BE6-42EC-897C-A1C4427AB656}" dt="2026-09-24T16:59:23.798" v="666" actId="47"/>
      <pc:docMkLst>
        <pc:docMk/>
      </pc:docMkLst>
      <pc:sldChg chg="del">
        <pc:chgData name="Clayton Silva" userId="29ef9a7b83f2ddc4" providerId="LiveId" clId="{58335943-2BE6-42EC-897C-A1C4427AB656}" dt="2026-09-24T16:56:14.648" v="660" actId="47"/>
        <pc:sldMkLst>
          <pc:docMk/>
          <pc:sldMk cId="0" sldId="261"/>
        </pc:sldMkLst>
      </pc:sldChg>
      <pc:sldChg chg="ord">
        <pc:chgData name="Clayton Silva" userId="29ef9a7b83f2ddc4" providerId="LiveId" clId="{58335943-2BE6-42EC-897C-A1C4427AB656}" dt="2026-09-24T16:55:07.406" v="659"/>
        <pc:sldMkLst>
          <pc:docMk/>
          <pc:sldMk cId="0" sldId="263"/>
        </pc:sldMkLst>
      </pc:sldChg>
      <pc:sldChg chg="del">
        <pc:chgData name="Clayton Silva" userId="29ef9a7b83f2ddc4" providerId="LiveId" clId="{58335943-2BE6-42EC-897C-A1C4427AB656}" dt="2026-09-24T16:57:58.382" v="661" actId="47"/>
        <pc:sldMkLst>
          <pc:docMk/>
          <pc:sldMk cId="0" sldId="274"/>
        </pc:sldMkLst>
      </pc:sldChg>
      <pc:sldChg chg="add del">
        <pc:chgData name="Clayton Silva" userId="29ef9a7b83f2ddc4" providerId="LiveId" clId="{58335943-2BE6-42EC-897C-A1C4427AB656}" dt="2026-09-24T16:58:52.041" v="663" actId="47"/>
        <pc:sldMkLst>
          <pc:docMk/>
          <pc:sldMk cId="0" sldId="281"/>
        </pc:sldMkLst>
      </pc:sldChg>
      <pc:sldChg chg="del">
        <pc:chgData name="Clayton Silva" userId="29ef9a7b83f2ddc4" providerId="LiveId" clId="{58335943-2BE6-42EC-897C-A1C4427AB656}" dt="2026-09-24T16:59:08.962" v="664" actId="47"/>
        <pc:sldMkLst>
          <pc:docMk/>
          <pc:sldMk cId="0" sldId="283"/>
        </pc:sldMkLst>
      </pc:sldChg>
      <pc:sldChg chg="del">
        <pc:chgData name="Clayton Silva" userId="29ef9a7b83f2ddc4" providerId="LiveId" clId="{58335943-2BE6-42EC-897C-A1C4427AB656}" dt="2026-09-24T16:59:21.206" v="665" actId="47"/>
        <pc:sldMkLst>
          <pc:docMk/>
          <pc:sldMk cId="0" sldId="285"/>
        </pc:sldMkLst>
      </pc:sldChg>
      <pc:sldChg chg="del">
        <pc:chgData name="Clayton Silva" userId="29ef9a7b83f2ddc4" providerId="LiveId" clId="{58335943-2BE6-42EC-897C-A1C4427AB656}" dt="2026-09-24T16:59:23.798" v="666" actId="47"/>
        <pc:sldMkLst>
          <pc:docMk/>
          <pc:sldMk cId="0" sldId="286"/>
        </pc:sldMkLst>
      </pc:sldChg>
      <pc:sldMasterChg chg="delSldLayout">
        <pc:chgData name="Clayton Silva" userId="29ef9a7b83f2ddc4" providerId="LiveId" clId="{58335943-2BE6-42EC-897C-A1C4427AB656}" dt="2026-09-03T19:41:56.772" v="655" actId="47"/>
        <pc:sldMasterMkLst>
          <pc:docMk/>
          <pc:sldMasterMk cId="870682487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9FE62-7654-4B84-AF45-01370FE63B2E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B5CB3C-E4F6-452F-A32F-3192F943C5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675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EE579-E1C6-1891-1F76-3E922E3A2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61537C-2B17-8015-493E-D1088D35BA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BFE3B0-25E4-60C4-0A94-0FF32BD55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1E697D-C639-708C-EDB4-FBC104ED7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03B7F8-D1AE-FFC8-47BF-E9220378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493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CDF2A-10B3-49B9-54ED-C2952547A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7E29C7-E9C7-1A5F-8BFF-DF31FC362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541420-41B3-E0A4-61FA-A8402EA1A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17EC53-F18B-483B-CE34-5B62F78BA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0D8C8C-4FAB-94AA-CF68-8C31F851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664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3910B-6B76-93B9-55CA-8D8CA7C0E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47399D-CE4C-6C7B-89D0-892876E17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E17C91-FD64-2DC3-99AB-01C643A22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22D505-EF7C-A586-C5C7-DE6BD93F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F79A0E-0051-0BC0-4BCE-AA3FA1504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28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E8BE2C-4A24-E4B9-B0F3-5ADC8F521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9780C7-E99B-9070-CC55-A8137DB6AC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41030B1-DA83-8B94-7CCB-2BB52C815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4A8C75-CECE-6549-C12A-A7E9DC912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F5A432-C61D-C45A-F6BE-28AD506C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27DFF0-D6CC-C587-BE9B-51FE48B85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6399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9DD6D-5FD0-6189-A799-66199067D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4B1B09-B91F-CFE5-CE3A-0C07A7448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A7461D-CFF2-58E8-1747-AB8CB2045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ECE5D51-767E-8FC2-4C8C-29A32DFB6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F3B498A-ED2A-AD83-0353-93E9CC9CF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5C790E-011D-2191-85A5-566598669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76429B1-0062-AC93-E978-5D2BEF4E6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DB60E57-BFB3-65B2-6DE4-E903A2D45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616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14BDC-8A4A-FB0F-7F25-EC7CC5A4C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5947C1-630F-5557-02A1-1897410F0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DB6B86-94C3-56F8-598C-1CDBEA42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0B1557F-FEE8-6D06-79CD-8777A283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479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5F43254-9708-EB23-DF29-46007CDC8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DCB2AD4-BFC3-0CE0-3834-AE6129080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E5D1874-19B4-E616-D8FF-A27FCF13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9889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FC6D0-95FF-A369-25CC-A07424954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719D84-DA63-B739-A1DF-AD96431E7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82CB2C-1EDE-26F5-8685-2660EAC05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034DB6-507F-3182-6637-4DCDD7FC0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29C827-C27E-B5D6-63B6-B0CD0CDF4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597221-4CDC-BF14-DEC8-0C6F1DEC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376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4F0AF-6814-1C05-AEE6-508E80339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534D2C1-A768-50E8-34D8-C9865F0EE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09F9F4-038D-EB73-4342-B129D651D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21D968-9500-36F4-B79C-8DEC20B52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1E4DAA-9919-672E-DBA7-6181310C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BE64DF-562D-17FB-926E-B1BD8598C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86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EFFD1-8C1E-6E29-2A8F-2CFBEAA32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6C2017-7216-63E6-ECCF-CFD90A999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5ED19C-66CF-E184-BF78-7DC829768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2997AE-2C01-1748-3B3A-A3C62C9F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F05477-8E0B-7BD9-9A22-30C34AAE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506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3F1397B-1887-BB0C-9AB2-9514F0410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9CB49-103A-9063-E6FC-B30409CD7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67E8B0-3F9F-044A-8E93-8FB7DA8A4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C49ED-6414-470B-B818-4F400A22B9B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1CAE1D-3DE9-F313-D187-17C609B5B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AE2182-B17F-3354-4CBE-4AEF6025F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41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3EEA564-25D7-5EBD-149D-8833C3312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89F874-C62D-2AC2-DC25-B3ED624DF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FE9FB6-2B96-D7BF-174F-B219738E79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C49ED-6414-470B-B818-4F400A22B9B4}" type="datetimeFigureOut">
              <a:rPr lang="pt-BR" smtClean="0"/>
              <a:t>24/09/2026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9E9C46-CFC9-B9CE-E3F9-DDA1F3109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0FA5C8-A2C9-BC72-3FF8-21624F3A2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DE4E6F-FA7E-4B94-A865-F68D215C11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0682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Gestão de Projetos</a:t>
            </a:r>
            <a:br/>
            <a:r>
              <a:rPr sz="4800"/>
              <a:t>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Prof. MS Clayton J A Silva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4531360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/>
              <a:t>Gestão do tempo em projetos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Gerenciamento do tempo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Conjunto de processos para </a:t>
            </a:r>
            <a:r>
              <a:rPr sz="2400" b="1"/>
              <a:t>planejar, executar e controlar a duração</a:t>
            </a:r>
            <a:r>
              <a:rPr sz="2400"/>
              <a:t> do projeto de forma consistente (PMI, 2021).</a:t>
            </a:r>
          </a:p>
          <a:p>
            <a:r>
              <a:rPr sz="2400"/>
              <a:t>Na prática, envolve </a:t>
            </a:r>
            <a:r>
              <a:rPr sz="2400" b="1">
                <a:solidFill>
                  <a:srgbClr val="FF0000"/>
                </a:solidFill>
              </a:rPr>
              <a:t>compreender o trabalho</a:t>
            </a:r>
            <a:r>
              <a:rPr sz="2400"/>
              <a:t>, estimar com realismo, acompanhar a execução e corrigir desvios.</a:t>
            </a:r>
          </a:p>
          <a:p>
            <a:r>
              <a:rPr sz="2400" b="1"/>
              <a:t>Prazo, custo e escopo</a:t>
            </a:r>
            <a:r>
              <a:rPr sz="2400"/>
              <a:t> são restrições mutuamente dependentes: alterar uma afeta as demais.</a:t>
            </a:r>
          </a:p>
          <a:p>
            <a:r>
              <a:rPr sz="2400"/>
              <a:t>Prazos e custos são os </a:t>
            </a:r>
            <a:r>
              <a:rPr sz="2400" b="1"/>
              <a:t>meios</a:t>
            </a:r>
            <a:r>
              <a:rPr sz="2400"/>
              <a:t> para realizar o produto; o planejamento acompanha todo o ciclo de vida (MAXIMIANO, 2014).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_tr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os projetos atrasam?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Atrasos </a:t>
            </a:r>
            <a:r>
              <a:rPr sz="2400" b="1">
                <a:solidFill>
                  <a:srgbClr val="FF0000"/>
                </a:solidFill>
              </a:rPr>
              <a:t>raramente decorrem de uma única causa</a:t>
            </a:r>
            <a:r>
              <a:rPr sz="2400"/>
              <a:t>: restrições orçamentárias, limitações contratuais, fornecedores, incertezas técnicas e mudanças de escopo se combinam.</a:t>
            </a:r>
          </a:p>
          <a:p>
            <a:r>
              <a:rPr sz="2400"/>
              <a:t>Gestão do tempo eficaz é </a:t>
            </a:r>
            <a:r>
              <a:rPr sz="2400" b="1"/>
              <a:t>antecipar e administrar essa combinação</a:t>
            </a:r>
            <a:r>
              <a:rPr sz="2400"/>
              <a:t>, e não apenas calcular datas.</a:t>
            </a:r>
          </a:p>
          <a:p>
            <a:r>
              <a:rPr sz="2400" b="1"/>
              <a:t>Administração pública:</a:t>
            </a:r>
            <a:r>
              <a:rPr sz="2400"/>
              <a:t> crédito para comprar equipamentos, mas não para instalá-los → projeto interrompido até o exercício seguinte.</a:t>
            </a:r>
          </a:p>
          <a:p>
            <a:pPr lvl="1"/>
            <a:r>
              <a:rPr sz="2100"/>
              <a:t>Restrição </a:t>
            </a:r>
            <a:r>
              <a:rPr sz="2100" b="1"/>
              <a:t>institucional externa</a:t>
            </a:r>
            <a:r>
              <a:rPr sz="2100"/>
              <a:t>, não falha de planejamento técnico — o gestor não deve assumi-la como sua.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Cronograma, marcos e linha de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1"/>
              <a:t>Cronograma:</a:t>
            </a:r>
            <a:r>
              <a:rPr sz="2400"/>
              <a:t> representação temporal das atividades — o quê, em que sequência, com quais recursos, em quanto tempo e em torno de quais marcos.</a:t>
            </a:r>
          </a:p>
          <a:p>
            <a:pPr lvl="1"/>
            <a:r>
              <a:rPr sz="2100"/>
              <a:t>Principal ferramenta de integração do planejamento: conecta escopo, recursos e orçamento (KERZNER, 2022).</a:t>
            </a:r>
          </a:p>
          <a:p>
            <a:r>
              <a:rPr sz="2400" b="1"/>
              <a:t>Marcos (milestones):</a:t>
            </a:r>
            <a:r>
              <a:rPr sz="2400"/>
              <a:t> pontos de controle de </a:t>
            </a:r>
            <a:r>
              <a:rPr sz="2400" b="1">
                <a:solidFill>
                  <a:srgbClr val="FF0000"/>
                </a:solidFill>
              </a:rPr>
              <a:t>duração nula</a:t>
            </a:r>
            <a:r>
              <a:rPr sz="2400"/>
              <a:t>; não consomem recursos.</a:t>
            </a:r>
          </a:p>
          <a:p>
            <a:pPr lvl="1"/>
            <a:r>
              <a:rPr sz="2100"/>
              <a:t>Marcos contratuais (aceite e faturamento) têm efeitos jurídicos e financeiros diretos.</a:t>
            </a:r>
          </a:p>
          <a:p>
            <a:r>
              <a:rPr sz="2400" b="1"/>
              <a:t>Linha de base (baseline):</a:t>
            </a:r>
            <a:r>
              <a:rPr sz="2400"/>
              <a:t> referência aprovada contra a qual o desempenho real é comparado.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Rastreabilidade: pacote de trabalho → atividade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Hierarquia: </a:t>
            </a:r>
            <a:r>
              <a:rPr sz="2400" b="1"/>
              <a:t>projeto → entregas → pacotes de trabalho → atividades</a:t>
            </a:r>
            <a:r>
              <a:rPr sz="2400"/>
              <a:t> (PMI, 2006; 2021).</a:t>
            </a:r>
          </a:p>
          <a:p>
            <a:r>
              <a:rPr sz="2400"/>
              <a:t>Cada atividade deve ser rastreável até seu pacote; cada pacote deve estar integralmente representado no cronograma.</a:t>
            </a:r>
          </a:p>
          <a:p>
            <a:r>
              <a:rPr sz="2400"/>
              <a:t>Falhas geram cronograma </a:t>
            </a:r>
            <a:r>
              <a:rPr sz="2400" b="1"/>
              <a:t>incompleto</a:t>
            </a:r>
            <a:r>
              <a:rPr sz="2400"/>
              <a:t> ou atividades sem entrega aprovada (</a:t>
            </a:r>
            <a:r>
              <a:rPr sz="2400" b="1">
                <a:solidFill>
                  <a:srgbClr val="FF0000"/>
                </a:solidFill>
              </a:rPr>
              <a:t>gold plating</a:t>
            </a:r>
            <a:r>
              <a:rPr sz="2400"/>
              <a:t>).</a:t>
            </a:r>
          </a:p>
          <a:p>
            <a:r>
              <a:rPr sz="2400"/>
              <a:t>Pacotes mal decompostos produzem atividades agregadas demais para serem estimadas — o desvio só aparece tarde.</a:t>
            </a:r>
          </a:p>
          <a:p>
            <a:r>
              <a:rPr sz="2400"/>
              <a:t>Sem escopo claro, </a:t>
            </a:r>
            <a:r>
              <a:rPr sz="2400" b="1">
                <a:solidFill>
                  <a:srgbClr val="FF0000"/>
                </a:solidFill>
              </a:rPr>
              <a:t>não é possível estimar prazo, equipe ou custo</a:t>
            </a:r>
            <a:r>
              <a:rPr sz="240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Estimativas: otimismo e excesso de confiança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 literatura culpa o otimismo das equipes; a experiência aponta com frequência o </a:t>
            </a:r>
            <a:r>
              <a:rPr sz="2400" b="1">
                <a:solidFill>
                  <a:srgbClr val="FF0000"/>
                </a:solidFill>
              </a:rPr>
              <a:t>otimismo do cliente</a:t>
            </a:r>
            <a:r>
              <a:rPr sz="2400"/>
              <a:t>, que subestima a complexidade e pressiona o prazo.</a:t>
            </a:r>
          </a:p>
          <a:p>
            <a:r>
              <a:rPr sz="2400"/>
              <a:t>Risco paradoxal: o </a:t>
            </a:r>
            <a:r>
              <a:rPr sz="2400" b="1"/>
              <a:t>excesso de confiança</a:t>
            </a:r>
            <a:r>
              <a:rPr sz="2400"/>
              <a:t> do especialista, que nasce da competência e subestima problemas.</a:t>
            </a:r>
          </a:p>
          <a:p>
            <a:r>
              <a:rPr sz="2400" b="1"/>
              <a:t>Caso:</a:t>
            </a:r>
            <a:r>
              <a:rPr sz="2400"/>
              <a:t> artefato sobre tecnologia emergente reprovado pelo cliente, com faturamento vinculado.</a:t>
            </a:r>
          </a:p>
          <a:p>
            <a:pPr lvl="1"/>
            <a:r>
              <a:rPr sz="2100"/>
              <a:t>Causa raiz: competência da equipe e supervisão do líder técnico.</a:t>
            </a:r>
          </a:p>
          <a:p>
            <a:pPr lvl="1"/>
            <a:r>
              <a:rPr sz="2100"/>
              <a:t>Impacto administrável porque a atividade </a:t>
            </a:r>
            <a:r>
              <a:rPr sz="2100" b="1"/>
              <a:t>não estava no caminho crítico</a:t>
            </a:r>
            <a:r>
              <a:rPr sz="210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Corrente crítica (Critical Chain)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Proposta por </a:t>
            </a:r>
            <a:r>
              <a:rPr sz="2400" b="1"/>
              <a:t>Goldratt (1997)</a:t>
            </a:r>
            <a:r>
              <a:rPr sz="2400"/>
              <a:t>: estimativas individuais já embutem margens de segurança que se perdem na execução.</a:t>
            </a:r>
          </a:p>
          <a:p>
            <a:pPr lvl="1"/>
            <a:r>
              <a:rPr sz="2100" b="1">
                <a:solidFill>
                  <a:srgbClr val="FF0000"/>
                </a:solidFill>
              </a:rPr>
              <a:t>Síndrome do estudante</a:t>
            </a:r>
            <a:r>
              <a:rPr sz="2100"/>
              <a:t> e </a:t>
            </a:r>
            <a:r>
              <a:rPr sz="2100" b="1">
                <a:solidFill>
                  <a:srgbClr val="FF0000"/>
                </a:solidFill>
              </a:rPr>
              <a:t>lei de Parkinson</a:t>
            </a:r>
            <a:r>
              <a:rPr sz="2100"/>
              <a:t>.</a:t>
            </a:r>
          </a:p>
          <a:p>
            <a:r>
              <a:rPr sz="2400"/>
              <a:t>Em vez de proteger cada atividade, concentra as margens em </a:t>
            </a:r>
            <a:r>
              <a:rPr sz="2400" b="1"/>
              <a:t>buffers de projeto</a:t>
            </a:r>
            <a:r>
              <a:rPr sz="2400"/>
              <a:t>, ao final do caminho crítico e nas cadeias alimentadoras.</a:t>
            </a:r>
          </a:p>
          <a:p>
            <a:r>
              <a:rPr sz="2400"/>
              <a:t>Reservas de prazo são </a:t>
            </a:r>
            <a:r>
              <a:rPr sz="2400" b="1"/>
              <a:t>distintas</a:t>
            </a:r>
            <a:r>
              <a:rPr sz="2400"/>
              <a:t> de reservas financeiras e devem ser explícitas e visíveis no cronograma.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Controle e monitoramento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Atrasos surgem por </a:t>
            </a:r>
            <a:r>
              <a:rPr sz="2400" b="1"/>
              <a:t>sinais progressivos</a:t>
            </a:r>
            <a:r>
              <a:rPr sz="2400"/>
              <a:t>: pequenos deslizamentos, redução de folgas, entregas de qualidade inferior.</a:t>
            </a:r>
          </a:p>
          <a:p>
            <a:r>
              <a:rPr sz="2400"/>
              <a:t>Comunicar desvio </a:t>
            </a:r>
            <a:r>
              <a:rPr sz="2400" b="1">
                <a:solidFill>
                  <a:srgbClr val="FF0000"/>
                </a:solidFill>
              </a:rPr>
              <a:t>sempre com alternativas de solução</a:t>
            </a:r>
            <a:r>
              <a:rPr sz="2400"/>
              <a:t> e impacto atualizado.</a:t>
            </a:r>
          </a:p>
          <a:p>
            <a:r>
              <a:rPr sz="2400"/>
              <a:t>Gerir dependências internas e externas </a:t>
            </a:r>
            <a:r>
              <a:rPr sz="2400" b="1"/>
              <a:t>no dia a dia</a:t>
            </a:r>
            <a:r>
              <a:rPr sz="2400"/>
              <a:t>, não só na reunião formal; envolver a gerência sênior antes do impacto.</a:t>
            </a:r>
          </a:p>
          <a:p>
            <a:r>
              <a:rPr sz="2400"/>
              <a:t>Registrar cada premissa relevante também como </a:t>
            </a:r>
            <a:r>
              <a:rPr sz="2400" b="1"/>
              <a:t>risco</a:t>
            </a:r>
            <a:r>
              <a:rPr sz="2400"/>
              <a:t>.</a:t>
            </a:r>
          </a:p>
          <a:p>
            <a:r>
              <a:rPr sz="2400"/>
              <a:t>Definir o </a:t>
            </a:r>
            <a:r>
              <a:rPr sz="2400" b="1"/>
              <a:t>processo de aceitação no início</a:t>
            </a:r>
            <a:r>
              <a:rPr sz="2400"/>
              <a:t>: quem avalia, com quais critérios, em que prazo e o efeito do silêncio.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624</Words>
  <Application>Microsoft Office PowerPoint</Application>
  <PresentationFormat>Widescreen</PresentationFormat>
  <Paragraphs>42</Paragraphs>
  <Slides>26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Tema do Office</vt:lpstr>
      <vt:lpstr>Gestão de Projetos 2026</vt:lpstr>
      <vt:lpstr>Gerenciamento do tempo</vt:lpstr>
      <vt:lpstr>Apresentação do PowerPoint</vt:lpstr>
      <vt:lpstr>Por que os projetos atrasam?</vt:lpstr>
      <vt:lpstr>Apresentação do PowerPoint</vt:lpstr>
      <vt:lpstr>Cronograma, marcos e linha de base</vt:lpstr>
      <vt:lpstr>Apresentação do PowerPoint</vt:lpstr>
      <vt:lpstr>Apresentação do PowerPoint</vt:lpstr>
      <vt:lpstr>Rastreabilidade: pacote de trabalho → atividade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Estimativas: otimismo e excesso de confiança</vt:lpstr>
      <vt:lpstr>Apresentação do PowerPoint</vt:lpstr>
      <vt:lpstr>Apresentação do PowerPoint</vt:lpstr>
      <vt:lpstr>Apresentação do PowerPoint</vt:lpstr>
      <vt:lpstr>Apresentação do PowerPoint</vt:lpstr>
      <vt:lpstr>Corrente crítica (Critical Chain)</vt:lpstr>
      <vt:lpstr>Apresentação do PowerPoint</vt:lpstr>
      <vt:lpstr>Apresentação do PowerPoint</vt:lpstr>
      <vt:lpstr>Apresentação do PowerPoint</vt:lpstr>
      <vt:lpstr>Controle e monitoramento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Clayton Silva</dc:creator>
  <cp:lastModifiedBy>Clayton Silva</cp:lastModifiedBy>
  <cp:revision>1</cp:revision>
  <dcterms:created xsi:type="dcterms:W3CDTF">2026-08-05T22:38:24Z</dcterms:created>
  <dcterms:modified xsi:type="dcterms:W3CDTF">2026-09-24T16:59:30Z</dcterms:modified>
</cp:coreProperties>
</file>