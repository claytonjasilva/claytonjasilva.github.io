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7" r:id="rId3"/>
    <p:sldId id="278" r:id="rId4"/>
    <p:sldId id="273" r:id="rId5"/>
    <p:sldId id="261" r:id="rId6"/>
    <p:sldId id="271" r:id="rId7"/>
    <p:sldId id="272" r:id="rId8"/>
    <p:sldId id="260" r:id="rId9"/>
    <p:sldId id="268" r:id="rId10"/>
    <p:sldId id="269" r:id="rId11"/>
    <p:sldId id="270" r:id="rId12"/>
    <p:sldId id="264" r:id="rId13"/>
    <p:sldId id="265" r:id="rId14"/>
    <p:sldId id="279" r:id="rId15"/>
    <p:sldId id="266" r:id="rId16"/>
    <p:sldId id="280" r:id="rId17"/>
    <p:sldId id="281" r:id="rId18"/>
    <p:sldId id="275" r:id="rId19"/>
    <p:sldId id="258" r:id="rId20"/>
    <p:sldId id="257" r:id="rId21"/>
    <p:sldId id="276" r:id="rId22"/>
    <p:sldId id="259" r:id="rId23"/>
    <p:sldId id="282" r:id="rId24"/>
    <p:sldId id="274" r:id="rId25"/>
    <p:sldId id="283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454750-ABB1-4ECD-AEF6-7EAEE446BE4D}" v="18" dt="2026-09-03T18:04:10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yton Silva" userId="29ef9a7b83f2ddc4" providerId="LiveId" clId="{58335943-2BE6-42EC-897C-A1C4427AB656}"/>
    <pc:docChg chg="custSel addSld delSld modSld sldOrd">
      <pc:chgData name="Clayton Silva" userId="29ef9a7b83f2ddc4" providerId="LiveId" clId="{58335943-2BE6-42EC-897C-A1C4427AB656}" dt="2026-09-03T18:04:10.244" v="476"/>
      <pc:docMkLst>
        <pc:docMk/>
      </pc:docMkLst>
      <pc:sldChg chg="addSp modSp mod">
        <pc:chgData name="Clayton Silva" userId="29ef9a7b83f2ddc4" providerId="LiveId" clId="{58335943-2BE6-42EC-897C-A1C4427AB656}" dt="2026-08-27T20:25:40.233" v="196" actId="20577"/>
        <pc:sldMkLst>
          <pc:docMk/>
          <pc:sldMk cId="2548748768" sldId="256"/>
        </pc:sldMkLst>
        <pc:spChg chg="add mod">
          <ac:chgData name="Clayton Silva" userId="29ef9a7b83f2ddc4" providerId="LiveId" clId="{58335943-2BE6-42EC-897C-A1C4427AB656}" dt="2026-08-27T20:25:40.233" v="196" actId="20577"/>
          <ac:spMkLst>
            <pc:docMk/>
            <pc:sldMk cId="2548748768" sldId="256"/>
            <ac:spMk id="4" creationId="{D5C51E5B-D6E8-2935-F8D0-69DC9021D902}"/>
          </ac:spMkLst>
        </pc:spChg>
      </pc:sldChg>
      <pc:sldChg chg="addSp delSp modSp mod">
        <pc:chgData name="Clayton Silva" userId="29ef9a7b83f2ddc4" providerId="LiveId" clId="{58335943-2BE6-42EC-897C-A1C4427AB656}" dt="2026-08-27T20:28:01.650" v="250" actId="1076"/>
        <pc:sldMkLst>
          <pc:docMk/>
          <pc:sldMk cId="1801782121" sldId="257"/>
        </pc:sldMkLst>
        <pc:picChg chg="add mod">
          <ac:chgData name="Clayton Silva" userId="29ef9a7b83f2ddc4" providerId="LiveId" clId="{58335943-2BE6-42EC-897C-A1C4427AB656}" dt="2026-08-27T20:28:01.650" v="250" actId="1076"/>
          <ac:picMkLst>
            <pc:docMk/>
            <pc:sldMk cId="1801782121" sldId="257"/>
            <ac:picMk id="2" creationId="{A9FF13FB-B614-6C5A-EE81-F23DEB68A73D}"/>
          </ac:picMkLst>
        </pc:picChg>
      </pc:sldChg>
      <pc:sldChg chg="addSp delSp modSp mod ord">
        <pc:chgData name="Clayton Silva" userId="29ef9a7b83f2ddc4" providerId="LiveId" clId="{58335943-2BE6-42EC-897C-A1C4427AB656}" dt="2026-08-27T21:05:13.012" v="441"/>
        <pc:sldMkLst>
          <pc:docMk/>
          <pc:sldMk cId="2094070849" sldId="258"/>
        </pc:sldMkLst>
        <pc:picChg chg="add mod">
          <ac:chgData name="Clayton Silva" userId="29ef9a7b83f2ddc4" providerId="LiveId" clId="{58335943-2BE6-42EC-897C-A1C4427AB656}" dt="2026-08-27T20:29:16.458" v="284" actId="1036"/>
          <ac:picMkLst>
            <pc:docMk/>
            <pc:sldMk cId="2094070849" sldId="258"/>
            <ac:picMk id="2" creationId="{1B5801BD-D02A-E8EB-06B6-915F0F58A00E}"/>
          </ac:picMkLst>
        </pc:picChg>
      </pc:sldChg>
      <pc:sldChg chg="addSp delSp modSp mod">
        <pc:chgData name="Clayton Silva" userId="29ef9a7b83f2ddc4" providerId="LiveId" clId="{58335943-2BE6-42EC-897C-A1C4427AB656}" dt="2026-08-27T20:30:12.075" v="310" actId="1036"/>
        <pc:sldMkLst>
          <pc:docMk/>
          <pc:sldMk cId="3715398109" sldId="259"/>
        </pc:sldMkLst>
        <pc:picChg chg="add mod">
          <ac:chgData name="Clayton Silva" userId="29ef9a7b83f2ddc4" providerId="LiveId" clId="{58335943-2BE6-42EC-897C-A1C4427AB656}" dt="2026-08-27T20:30:12.075" v="310" actId="1036"/>
          <ac:picMkLst>
            <pc:docMk/>
            <pc:sldMk cId="3715398109" sldId="259"/>
            <ac:picMk id="2" creationId="{6BF33FA9-20B0-11D8-21E1-EF366BD1D9F6}"/>
          </ac:picMkLst>
        </pc:picChg>
      </pc:sldChg>
      <pc:sldChg chg="addSp delSp modSp mod ord">
        <pc:chgData name="Clayton Silva" userId="29ef9a7b83f2ddc4" providerId="LiveId" clId="{58335943-2BE6-42EC-897C-A1C4427AB656}" dt="2026-08-27T20:34:20.303" v="314" actId="931"/>
        <pc:sldMkLst>
          <pc:docMk/>
          <pc:sldMk cId="1906589680" sldId="260"/>
        </pc:sldMkLst>
        <pc:picChg chg="add mod">
          <ac:chgData name="Clayton Silva" userId="29ef9a7b83f2ddc4" providerId="LiveId" clId="{58335943-2BE6-42EC-897C-A1C4427AB656}" dt="2026-08-27T20:34:20.303" v="314" actId="931"/>
          <ac:picMkLst>
            <pc:docMk/>
            <pc:sldMk cId="1906589680" sldId="260"/>
            <ac:picMk id="4" creationId="{5ACEC0CB-B8E3-FF9B-BA69-4C166384ABE7}"/>
          </ac:picMkLst>
        </pc:picChg>
      </pc:sldChg>
      <pc:sldChg chg="add setBg">
        <pc:chgData name="Clayton Silva" userId="29ef9a7b83f2ddc4" providerId="LiveId" clId="{58335943-2BE6-42EC-897C-A1C4427AB656}" dt="2026-09-03T18:01:18.520" v="470"/>
        <pc:sldMkLst>
          <pc:docMk/>
          <pc:sldMk cId="1166538856" sldId="261"/>
        </pc:sldMkLst>
      </pc:sldChg>
      <pc:sldChg chg="add setBg">
        <pc:chgData name="Clayton Silva" userId="29ef9a7b83f2ddc4" providerId="LiveId" clId="{58335943-2BE6-42EC-897C-A1C4427AB656}" dt="2026-09-03T18:02:06.973" v="471"/>
        <pc:sldMkLst>
          <pc:docMk/>
          <pc:sldMk cId="149867222" sldId="264"/>
        </pc:sldMkLst>
      </pc:sldChg>
      <pc:sldChg chg="addSp delSp modSp new mod modClrScheme chgLayout">
        <pc:chgData name="Clayton Silva" userId="29ef9a7b83f2ddc4" providerId="LiveId" clId="{58335943-2BE6-42EC-897C-A1C4427AB656}" dt="2026-08-27T20:27:14.804" v="236" actId="1036"/>
        <pc:sldMkLst>
          <pc:docMk/>
          <pc:sldMk cId="714322635" sldId="265"/>
        </pc:sldMkLst>
        <pc:picChg chg="add mod">
          <ac:chgData name="Clayton Silva" userId="29ef9a7b83f2ddc4" providerId="LiveId" clId="{58335943-2BE6-42EC-897C-A1C4427AB656}" dt="2026-08-27T20:27:14.804" v="236" actId="1036"/>
          <ac:picMkLst>
            <pc:docMk/>
            <pc:sldMk cId="714322635" sldId="265"/>
            <ac:picMk id="2" creationId="{E981DD31-0EF0-2539-0406-069B29545156}"/>
          </ac:picMkLst>
        </pc:picChg>
      </pc:sldChg>
      <pc:sldChg chg="add setBg">
        <pc:chgData name="Clayton Silva" userId="29ef9a7b83f2ddc4" providerId="LiveId" clId="{58335943-2BE6-42EC-897C-A1C4427AB656}" dt="2026-09-03T18:02:41.357" v="472"/>
        <pc:sldMkLst>
          <pc:docMk/>
          <pc:sldMk cId="1524716215" sldId="266"/>
        </pc:sldMkLst>
      </pc:sldChg>
      <pc:sldChg chg="addSp modSp new mod">
        <pc:chgData name="Clayton Silva" userId="29ef9a7b83f2ddc4" providerId="LiveId" clId="{58335943-2BE6-42EC-897C-A1C4427AB656}" dt="2026-08-27T20:37:30.761" v="316" actId="931"/>
        <pc:sldMkLst>
          <pc:docMk/>
          <pc:sldMk cId="2655173032" sldId="268"/>
        </pc:sldMkLst>
        <pc:picChg chg="add mod">
          <ac:chgData name="Clayton Silva" userId="29ef9a7b83f2ddc4" providerId="LiveId" clId="{58335943-2BE6-42EC-897C-A1C4427AB656}" dt="2026-08-27T20:37:30.761" v="316" actId="931"/>
          <ac:picMkLst>
            <pc:docMk/>
            <pc:sldMk cId="2655173032" sldId="268"/>
            <ac:picMk id="3" creationId="{E215BFC5-C775-DC41-3E61-01D631554BCD}"/>
          </ac:picMkLst>
        </pc:picChg>
      </pc:sldChg>
      <pc:sldChg chg="addSp modSp new mod">
        <pc:chgData name="Clayton Silva" userId="29ef9a7b83f2ddc4" providerId="LiveId" clId="{58335943-2BE6-42EC-897C-A1C4427AB656}" dt="2026-08-27T20:41:18.036" v="318" actId="931"/>
        <pc:sldMkLst>
          <pc:docMk/>
          <pc:sldMk cId="3380186652" sldId="269"/>
        </pc:sldMkLst>
        <pc:picChg chg="add mod">
          <ac:chgData name="Clayton Silva" userId="29ef9a7b83f2ddc4" providerId="LiveId" clId="{58335943-2BE6-42EC-897C-A1C4427AB656}" dt="2026-08-27T20:41:18.036" v="318" actId="931"/>
          <ac:picMkLst>
            <pc:docMk/>
            <pc:sldMk cId="3380186652" sldId="269"/>
            <ac:picMk id="3" creationId="{F43E87B9-432B-9663-12E1-B3E9D5B3D55A}"/>
          </ac:picMkLst>
        </pc:picChg>
      </pc:sldChg>
      <pc:sldChg chg="addSp modSp new mod">
        <pc:chgData name="Clayton Silva" userId="29ef9a7b83f2ddc4" providerId="LiveId" clId="{58335943-2BE6-42EC-897C-A1C4427AB656}" dt="2026-08-27T20:45:16.659" v="320" actId="931"/>
        <pc:sldMkLst>
          <pc:docMk/>
          <pc:sldMk cId="1301060425" sldId="270"/>
        </pc:sldMkLst>
        <pc:picChg chg="add mod">
          <ac:chgData name="Clayton Silva" userId="29ef9a7b83f2ddc4" providerId="LiveId" clId="{58335943-2BE6-42EC-897C-A1C4427AB656}" dt="2026-08-27T20:45:16.659" v="320" actId="931"/>
          <ac:picMkLst>
            <pc:docMk/>
            <pc:sldMk cId="1301060425" sldId="270"/>
            <ac:picMk id="3" creationId="{EB0E1220-BE79-1FEF-80D7-FC2AA3B296A4}"/>
          </ac:picMkLst>
        </pc:picChg>
      </pc:sldChg>
      <pc:sldChg chg="addSp modSp new mod ord">
        <pc:chgData name="Clayton Silva" userId="29ef9a7b83f2ddc4" providerId="LiveId" clId="{58335943-2BE6-42EC-897C-A1C4427AB656}" dt="2026-08-27T20:57:28.936" v="390"/>
        <pc:sldMkLst>
          <pc:docMk/>
          <pc:sldMk cId="4126053473" sldId="271"/>
        </pc:sldMkLst>
        <pc:picChg chg="add mod">
          <ac:chgData name="Clayton Silva" userId="29ef9a7b83f2ddc4" providerId="LiveId" clId="{58335943-2BE6-42EC-897C-A1C4427AB656}" dt="2026-08-27T20:50:35.109" v="322" actId="931"/>
          <ac:picMkLst>
            <pc:docMk/>
            <pc:sldMk cId="4126053473" sldId="271"/>
            <ac:picMk id="3" creationId="{7E78A279-3AF0-2693-D7FE-54E4692BFE38}"/>
          </ac:picMkLst>
        </pc:picChg>
      </pc:sldChg>
      <pc:sldChg chg="addSp delSp modSp new mod ord modClrScheme chgLayout">
        <pc:chgData name="Clayton Silva" userId="29ef9a7b83f2ddc4" providerId="LiveId" clId="{58335943-2BE6-42EC-897C-A1C4427AB656}" dt="2026-08-27T20:57:39.968" v="392"/>
        <pc:sldMkLst>
          <pc:docMk/>
          <pc:sldMk cId="1000328076" sldId="272"/>
        </pc:sldMkLst>
        <pc:spChg chg="add mod ord">
          <ac:chgData name="Clayton Silva" userId="29ef9a7b83f2ddc4" providerId="LiveId" clId="{58335943-2BE6-42EC-897C-A1C4427AB656}" dt="2026-08-27T20:52:25.175" v="357" actId="20577"/>
          <ac:spMkLst>
            <pc:docMk/>
            <pc:sldMk cId="1000328076" sldId="272"/>
            <ac:spMk id="4" creationId="{FF31864A-8583-1294-494B-7A3818B00A3E}"/>
          </ac:spMkLst>
        </pc:spChg>
        <pc:spChg chg="add mod ord">
          <ac:chgData name="Clayton Silva" userId="29ef9a7b83f2ddc4" providerId="LiveId" clId="{58335943-2BE6-42EC-897C-A1C4427AB656}" dt="2026-08-27T20:55:21.207" v="384" actId="20577"/>
          <ac:spMkLst>
            <pc:docMk/>
            <pc:sldMk cId="1000328076" sldId="272"/>
            <ac:spMk id="5" creationId="{9A783618-D38C-F264-248A-79CA56C96134}"/>
          </ac:spMkLst>
        </pc:spChg>
      </pc:sldChg>
      <pc:sldChg chg="modSp add mod ord">
        <pc:chgData name="Clayton Silva" userId="29ef9a7b83f2ddc4" providerId="LiveId" clId="{58335943-2BE6-42EC-897C-A1C4427AB656}" dt="2026-09-03T18:01:11.211" v="469"/>
        <pc:sldMkLst>
          <pc:docMk/>
          <pc:sldMk cId="2567027635" sldId="273"/>
        </pc:sldMkLst>
        <pc:spChg chg="mod">
          <ac:chgData name="Clayton Silva" userId="29ef9a7b83f2ddc4" providerId="LiveId" clId="{58335943-2BE6-42EC-897C-A1C4427AB656}" dt="2026-08-27T20:59:56.686" v="397" actId="20577"/>
          <ac:spMkLst>
            <pc:docMk/>
            <pc:sldMk cId="2567027635" sldId="273"/>
            <ac:spMk id="4" creationId="{482CA6EA-454E-B865-D07C-F0E7D2491EF1}"/>
          </ac:spMkLst>
        </pc:spChg>
        <pc:spChg chg="mod">
          <ac:chgData name="Clayton Silva" userId="29ef9a7b83f2ddc4" providerId="LiveId" clId="{58335943-2BE6-42EC-897C-A1C4427AB656}" dt="2026-08-27T21:01:42.626" v="433" actId="27636"/>
          <ac:spMkLst>
            <pc:docMk/>
            <pc:sldMk cId="2567027635" sldId="273"/>
            <ac:spMk id="5" creationId="{D9C3FBCD-A5FF-ECE0-0643-522A6CCD563A}"/>
          </ac:spMkLst>
        </pc:spChg>
      </pc:sldChg>
      <pc:sldChg chg="add setBg">
        <pc:chgData name="Clayton Silva" userId="29ef9a7b83f2ddc4" providerId="LiveId" clId="{58335943-2BE6-42EC-897C-A1C4427AB656}" dt="2026-09-03T18:04:10.244" v="476"/>
        <pc:sldMkLst>
          <pc:docMk/>
          <pc:sldMk cId="345458082" sldId="274"/>
        </pc:sldMkLst>
      </pc:sldChg>
      <pc:sldChg chg="addSp modSp new mod">
        <pc:chgData name="Clayton Silva" userId="29ef9a7b83f2ddc4" providerId="LiveId" clId="{58335943-2BE6-42EC-897C-A1C4427AB656}" dt="2026-08-27T21:07:00.327" v="443" actId="931"/>
        <pc:sldMkLst>
          <pc:docMk/>
          <pc:sldMk cId="237969856" sldId="275"/>
        </pc:sldMkLst>
        <pc:picChg chg="add mod">
          <ac:chgData name="Clayton Silva" userId="29ef9a7b83f2ddc4" providerId="LiveId" clId="{58335943-2BE6-42EC-897C-A1C4427AB656}" dt="2026-08-27T21:07:00.327" v="443" actId="931"/>
          <ac:picMkLst>
            <pc:docMk/>
            <pc:sldMk cId="237969856" sldId="275"/>
            <ac:picMk id="3" creationId="{D77E9B6C-4C70-950A-E601-800F750CAF46}"/>
          </ac:picMkLst>
        </pc:picChg>
      </pc:sldChg>
      <pc:sldChg chg="modSp add mod ord">
        <pc:chgData name="Clayton Silva" userId="29ef9a7b83f2ddc4" providerId="LiveId" clId="{58335943-2BE6-42EC-897C-A1C4427AB656}" dt="2026-08-27T21:10:18.617" v="464" actId="6549"/>
        <pc:sldMkLst>
          <pc:docMk/>
          <pc:sldMk cId="3925296125" sldId="276"/>
        </pc:sldMkLst>
        <pc:spChg chg="mod">
          <ac:chgData name="Clayton Silva" userId="29ef9a7b83f2ddc4" providerId="LiveId" clId="{58335943-2BE6-42EC-897C-A1C4427AB656}" dt="2026-08-27T21:08:50.009" v="454" actId="20577"/>
          <ac:spMkLst>
            <pc:docMk/>
            <pc:sldMk cId="3925296125" sldId="276"/>
            <ac:spMk id="4" creationId="{5FB54219-8505-057C-6C5D-3D866CC2D973}"/>
          </ac:spMkLst>
        </pc:spChg>
        <pc:spChg chg="mod">
          <ac:chgData name="Clayton Silva" userId="29ef9a7b83f2ddc4" providerId="LiveId" clId="{58335943-2BE6-42EC-897C-A1C4427AB656}" dt="2026-08-27T21:10:18.617" v="464" actId="6549"/>
          <ac:spMkLst>
            <pc:docMk/>
            <pc:sldMk cId="3925296125" sldId="276"/>
            <ac:spMk id="5" creationId="{6F0254AA-EBBD-F5A9-7052-1E753C9D1870}"/>
          </ac:spMkLst>
        </pc:spChg>
      </pc:sldChg>
      <pc:sldChg chg="add setBg">
        <pc:chgData name="Clayton Silva" userId="29ef9a7b83f2ddc4" providerId="LiveId" clId="{58335943-2BE6-42EC-897C-A1C4427AB656}" dt="2026-09-03T17:59:43.615" v="466"/>
        <pc:sldMkLst>
          <pc:docMk/>
          <pc:sldMk cId="1358838960" sldId="277"/>
        </pc:sldMkLst>
      </pc:sldChg>
      <pc:sldChg chg="add setBg">
        <pc:chgData name="Clayton Silva" userId="29ef9a7b83f2ddc4" providerId="LiveId" clId="{58335943-2BE6-42EC-897C-A1C4427AB656}" dt="2026-09-03T18:00:46.966" v="467"/>
        <pc:sldMkLst>
          <pc:docMk/>
          <pc:sldMk cId="845374671" sldId="278"/>
        </pc:sldMkLst>
      </pc:sldChg>
      <pc:sldChg chg="add setBg">
        <pc:chgData name="Clayton Silva" userId="29ef9a7b83f2ddc4" providerId="LiveId" clId="{58335943-2BE6-42EC-897C-A1C4427AB656}" dt="2026-09-03T18:03:01.829" v="473"/>
        <pc:sldMkLst>
          <pc:docMk/>
          <pc:sldMk cId="1744933731" sldId="279"/>
        </pc:sldMkLst>
      </pc:sldChg>
      <pc:sldChg chg="add setBg">
        <pc:chgData name="Clayton Silva" userId="29ef9a7b83f2ddc4" providerId="LiveId" clId="{58335943-2BE6-42EC-897C-A1C4427AB656}" dt="2026-09-03T18:03:15.160" v="474"/>
        <pc:sldMkLst>
          <pc:docMk/>
          <pc:sldMk cId="2004556862" sldId="280"/>
        </pc:sldMkLst>
      </pc:sldChg>
      <pc:sldChg chg="add setBg">
        <pc:chgData name="Clayton Silva" userId="29ef9a7b83f2ddc4" providerId="LiveId" clId="{58335943-2BE6-42EC-897C-A1C4427AB656}" dt="2026-09-03T18:03:29.322" v="475"/>
        <pc:sldMkLst>
          <pc:docMk/>
          <pc:sldMk cId="586312314" sldId="281"/>
        </pc:sldMkLst>
      </pc:sldChg>
      <pc:sldChg chg="add setBg">
        <pc:chgData name="Clayton Silva" userId="29ef9a7b83f2ddc4" providerId="LiveId" clId="{58335943-2BE6-42EC-897C-A1C4427AB656}" dt="2026-09-03T18:04:10.244" v="476"/>
        <pc:sldMkLst>
          <pc:docMk/>
          <pc:sldMk cId="646322625" sldId="282"/>
        </pc:sldMkLst>
      </pc:sldChg>
      <pc:sldChg chg="add setBg">
        <pc:chgData name="Clayton Silva" userId="29ef9a7b83f2ddc4" providerId="LiveId" clId="{58335943-2BE6-42EC-897C-A1C4427AB656}" dt="2026-09-03T18:04:10.244" v="476"/>
        <pc:sldMkLst>
          <pc:docMk/>
          <pc:sldMk cId="278738500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9FE62-7654-4B84-AF45-01370FE63B2E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B5CB3C-E4F6-452F-A32F-3192F943C5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67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XAVIER, Carlos Magno da Silva. Gerenciamento de projetos: como definir e controlar o escopo do projeto. 2. ed. São Paulo: Saraiva, 2009; página da Unidade 3 da disciplina.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XAVIER, Carlos Magno da Silva. Gerenciamento de projetos: como definir e controlar o escopo do projeto. 2. ed. São Paulo: Saraiva, 2009; página da Unidade 3 da disciplina.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XAVIER, Carlos Magno da Silva. Gerenciamento de projetos: como definir e controlar o escopo do projeto. 2. ed. São Paulo: Saraiva, 2009; página da Unidade 3 da disciplina.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XAVIER, Carlos Magno da Silva. Gerenciamento de projetos: como definir e controlar o escopo do projeto. 2. ed. São Paulo: Saraiva, 2009; página da Unidade 3 da disciplina.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XAVIER, Carlos Magno da Silva. Gerenciamento de projetos: como definir e controlar o escopo do projeto. 2. ed. São Paulo: Saraiva, 2009; página da Unidade 3 da disciplina.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XAVIER, Carlos Magno da Silva. Gerenciamento de projetos: como definir e controlar o escopo do projeto. 2. ed. São Paulo: Saraiva, 2009; página da Unidade 3 da disciplina.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XAVIER, Carlos Magno da Silva. Gerenciamento de projetos: como definir e controlar o escopo do projeto. 2. ed. São Paulo: Saraiva, 2009; página da Unidade 3 da disciplina.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XAVIER, Carlos Magno da Silva. Gerenciamento de projetos: como definir e controlar o escopo do projeto. 2. ed. São Paulo: Saraiva, 2009; página da Unidade 3 da disciplina.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XAVIER, Carlos Magno da Silva. Gerenciamento de projetos: como definir e controlar o escopo do projeto. 2. ed. São Paulo: Saraiva, 2009; página da Unidade 3 da disciplina.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XAVIER, Carlos Magno da Silva. Gerenciamento de projetos: como definir e controlar o escopo do projeto. 2. ed. São Paulo: Saraiva, 2009; página da Unidade 3 da disciplina. Conceitos de cronograma sintetizados na página da Unidade 3.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XAVIER, Carlos Magno da Silva. Gerenciamento de projetos: como definir e controlar o escopo do projeto. 2. ed. São Paulo: Saraiva, 2009; página da Unidade 3 da disciplina.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EE579-E1C6-1891-1F76-3E922E3A2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61537C-2B17-8015-493E-D1088D35B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BFE3B0-25E4-60C4-0A94-0FF32BD5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1E697D-C639-708C-EDB4-FBC104ED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03B7F8-D1AE-FFC8-47BF-E9220378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49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CDF2A-10B3-49B9-54ED-C2952547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7E29C7-E9C7-1A5F-8BFF-DF31FC362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541420-41B3-E0A4-61FA-A8402EA1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17EC53-F18B-483B-CE34-5B62F78BA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0D8C8C-4FAB-94AA-CF68-8C31F851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664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3910B-6B76-93B9-55CA-8D8CA7C0E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47399D-CE4C-6C7B-89D0-892876E17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E17C91-FD64-2DC3-99AB-01C643A2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22D505-EF7C-A586-C5C7-DE6BD93F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F79A0E-0051-0BC0-4BCE-AA3FA150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28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8BE2C-4A24-E4B9-B0F3-5ADC8F52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9780C7-E99B-9070-CC55-A8137DB6A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1030B1-DA83-8B94-7CCB-2BB52C815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4A8C75-CECE-6549-C12A-A7E9DC91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F5A432-C61D-C45A-F6BE-28AD506C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27DFF0-D6CC-C587-BE9B-51FE48B8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6399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9DD6D-5FD0-6189-A799-66199067D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4B1B09-B91F-CFE5-CE3A-0C07A7448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A7461D-CFF2-58E8-1747-AB8CB2045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CE5D51-767E-8FC2-4C8C-29A32DFB6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F3B498A-ED2A-AD83-0353-93E9CC9CF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5C790E-011D-2191-85A5-56659866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76429B1-0062-AC93-E978-5D2BEF4E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DB60E57-BFB3-65B2-6DE4-E903A2D4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16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14BDC-8A4A-FB0F-7F25-EC7CC5A4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5947C1-630F-5557-02A1-1897410F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DB6B86-94C3-56F8-598C-1CDBEA42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0B1557F-FEE8-6D06-79CD-8777A283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79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F43254-9708-EB23-DF29-46007CDC8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CB2AD4-BFC3-0CE0-3834-AE612908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5D1874-19B4-E616-D8FF-A27FCF13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88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FC6D0-95FF-A369-25CC-A0742495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19D84-DA63-B739-A1DF-AD96431E7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82CB2C-1EDE-26F5-8685-2660EAC05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034DB6-507F-3182-6637-4DCDD7FC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29C827-C27E-B5D6-63B6-B0CD0CDF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597221-4CDC-BF14-DEC8-0C6F1DEC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37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4F0AF-6814-1C05-AEE6-508E80339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534D2C1-A768-50E8-34D8-C9865F0EE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09F9F4-038D-EB73-4342-B129D651D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21D968-9500-36F4-B79C-8DEC20B5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1E4DAA-9919-672E-DBA7-6181310C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BE64DF-562D-17FB-926E-B1BD8598C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8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EFFD1-8C1E-6E29-2A8F-2CFBEAA3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6C2017-7216-63E6-ECCF-CFD90A999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5ED19C-66CF-E184-BF78-7DC82976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997AE-2C01-1748-3B3A-A3C62C9F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F05477-8E0B-7BD9-9A22-30C34AAE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06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F1397B-1887-BB0C-9AB2-9514F0410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9CB49-103A-9063-E6FC-B30409CD7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67E8B0-3F9F-044A-8E93-8FB7DA8A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1CAE1D-3DE9-F313-D187-17C609B5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AE2182-B17F-3354-4CBE-4AEF6025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418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150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3EEA564-25D7-5EBD-149D-8833C3312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89F874-C62D-2AC2-DC25-B3ED624DF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FE9FB6-2B96-D7BF-174F-B219738E7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C49ED-6414-470B-B818-4F400A22B9B4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9E9C46-CFC9-B9CE-E3F9-DDA1F3109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0FA5C8-A2C9-BC72-3FF8-21624F3A2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068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1EB40-9358-9E99-7076-0C934542D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Gestão de Projetos</a:t>
            </a:r>
            <a:br>
              <a:rPr lang="pt-BR" dirty="0"/>
            </a:br>
            <a:r>
              <a:rPr lang="pt-BR" sz="4800" dirty="0"/>
              <a:t>2026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B7CE78-3F9E-EE30-5B9D-21A26B13AE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MS Clayton J A Silva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C51E5B-D6E8-2935-F8D0-69DC9021D902}"/>
              </a:ext>
            </a:extLst>
          </p:cNvPr>
          <p:cNvSpPr txBox="1"/>
          <p:nvPr/>
        </p:nvSpPr>
        <p:spPr>
          <a:xfrm>
            <a:off x="2590800" y="4531360"/>
            <a:ext cx="74527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Gestão do escopo de projetos</a:t>
            </a:r>
          </a:p>
        </p:txBody>
      </p:sp>
    </p:spTree>
    <p:extLst>
      <p:ext uri="{BB962C8B-B14F-4D97-AF65-F5344CB8AC3E}">
        <p14:creationId xmlns:p14="http://schemas.microsoft.com/office/powerpoint/2010/main" val="2548748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4D50121A-96E2-43D6-A125-880737CC9DA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VISÃO DA UNIDADE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A114B9D-91CF-4A99-98C5-9B068FC77B0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1905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8E08C1E-AE97-4076-81A0-7028A9B7696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02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64E7C08-9F43-4DB2-AB21-1D1C57253CDE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2D7C3FC-5A56-4911-A421-DC5186E800B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Gerenciar o escopo exige coerência entre os artefatos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1D18962-A99E-47AE-967B-617DC4292788}"/>
              </a:ext>
            </a:extLst>
          </p:cNvPr>
          <p:cNvSpPr>
            <a:spLocks noGrp="1"/>
          </p:cNvSpPr>
          <p:nvPr/>
        </p:nvSpPr>
        <p:spPr>
          <a:xfrm>
            <a:off x="2133600" y="2809875"/>
            <a:ext cx="419100" cy="381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6122552-DB1A-445E-B504-D0470D0B77EA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1581150" cy="971550"/>
          </a:xfrm>
          <a:prstGeom prst="roundRect">
            <a:avLst>
              <a:gd name="adj" fmla="val 11765"/>
            </a:avLst>
          </a:prstGeom>
          <a:solidFill>
            <a:srgbClr val="101D2E"/>
          </a:solidFill>
          <a:ln w="95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055B10E-8175-4514-888A-340E78F9AD45}"/>
              </a:ext>
            </a:extLst>
          </p:cNvPr>
          <p:cNvSpPr>
            <a:spLocks noGrp="1"/>
          </p:cNvSpPr>
          <p:nvPr/>
        </p:nvSpPr>
        <p:spPr>
          <a:xfrm>
            <a:off x="752475" y="24765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6B6B"/>
                </a:solidFill>
              </a:defRPr>
            </a:pPr>
            <a:r>
              <a:rPr sz="1350" b="1">
                <a:solidFill>
                  <a:srgbClr val="FF6B6B"/>
                </a:solidFill>
              </a:rPr>
              <a:t>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7B9CA14-3FC5-42F4-9CF0-FF42175C5912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TAP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30B7478-597B-41E7-AE3D-17C764E6492C}"/>
              </a:ext>
            </a:extLst>
          </p:cNvPr>
          <p:cNvSpPr>
            <a:spLocks noGrp="1"/>
          </p:cNvSpPr>
          <p:nvPr/>
        </p:nvSpPr>
        <p:spPr>
          <a:xfrm>
            <a:off x="3962400" y="2809875"/>
            <a:ext cx="419100" cy="381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195210F-B565-4631-A5C3-397A921390AD}"/>
              </a:ext>
            </a:extLst>
          </p:cNvPr>
          <p:cNvSpPr>
            <a:spLocks noGrp="1"/>
          </p:cNvSpPr>
          <p:nvPr/>
        </p:nvSpPr>
        <p:spPr>
          <a:xfrm>
            <a:off x="2438400" y="2362200"/>
            <a:ext cx="1581150" cy="971550"/>
          </a:xfrm>
          <a:prstGeom prst="roundRect">
            <a:avLst>
              <a:gd name="adj" fmla="val 11765"/>
            </a:avLst>
          </a:prstGeom>
          <a:solidFill>
            <a:srgbClr val="101D2E"/>
          </a:solidFill>
          <a:ln w="9525">
            <a:solidFill>
              <a:srgbClr val="36C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949E343-3A53-44FB-A642-1E6F6FF00803}"/>
              </a:ext>
            </a:extLst>
          </p:cNvPr>
          <p:cNvSpPr>
            <a:spLocks noGrp="1"/>
          </p:cNvSpPr>
          <p:nvPr/>
        </p:nvSpPr>
        <p:spPr>
          <a:xfrm>
            <a:off x="2581275" y="24765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6C5F0"/>
                </a:solidFill>
              </a:defRPr>
            </a:pPr>
            <a:r>
              <a:rPr sz="1350" b="1">
                <a:solidFill>
                  <a:srgbClr val="36C5F0"/>
                </a:solidFill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910D2E2-BFD9-433D-A761-934C1B0DA612}"/>
              </a:ext>
            </a:extLst>
          </p:cNvPr>
          <p:cNvSpPr>
            <a:spLocks noGrp="1"/>
          </p:cNvSpPr>
          <p:nvPr/>
        </p:nvSpPr>
        <p:spPr>
          <a:xfrm>
            <a:off x="2514600" y="27813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Stakeholders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30E9549-28CB-4739-8E0A-A068A354C81D}"/>
              </a:ext>
            </a:extLst>
          </p:cNvPr>
          <p:cNvSpPr>
            <a:spLocks noGrp="1"/>
          </p:cNvSpPr>
          <p:nvPr/>
        </p:nvSpPr>
        <p:spPr>
          <a:xfrm>
            <a:off x="5791200" y="2809875"/>
            <a:ext cx="419100" cy="381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1075E4A-A3A3-4EE2-BA13-6EB89BA0DDB6}"/>
              </a:ext>
            </a:extLst>
          </p:cNvPr>
          <p:cNvSpPr>
            <a:spLocks noGrp="1"/>
          </p:cNvSpPr>
          <p:nvPr/>
        </p:nvSpPr>
        <p:spPr>
          <a:xfrm>
            <a:off x="4267200" y="2362200"/>
            <a:ext cx="1581150" cy="971550"/>
          </a:xfrm>
          <a:prstGeom prst="roundRect">
            <a:avLst>
              <a:gd name="adj" fmla="val 11765"/>
            </a:avLst>
          </a:prstGeom>
          <a:solidFill>
            <a:srgbClr val="101D2E"/>
          </a:solidFill>
          <a:ln w="9525">
            <a:solidFill>
              <a:srgbClr val="9A7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37AC05A-961E-4940-ACC0-8394CFB3CC4B}"/>
              </a:ext>
            </a:extLst>
          </p:cNvPr>
          <p:cNvSpPr>
            <a:spLocks noGrp="1"/>
          </p:cNvSpPr>
          <p:nvPr/>
        </p:nvSpPr>
        <p:spPr>
          <a:xfrm>
            <a:off x="4410075" y="24765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9A7BFF"/>
                </a:solidFill>
              </a:defRPr>
            </a:pPr>
            <a:r>
              <a:rPr sz="1350" b="1">
                <a:solidFill>
                  <a:srgbClr val="9A7BFF"/>
                </a:solidFill>
              </a:rPr>
              <a:t>3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E70FDD4-164F-423B-97EA-D01480269898}"/>
              </a:ext>
            </a:extLst>
          </p:cNvPr>
          <p:cNvSpPr>
            <a:spLocks noGrp="1"/>
          </p:cNvSpPr>
          <p:nvPr/>
        </p:nvSpPr>
        <p:spPr>
          <a:xfrm>
            <a:off x="4343400" y="27813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Requisitos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613AA8A-B4A4-4EE3-A369-BA22158AB0F4}"/>
              </a:ext>
            </a:extLst>
          </p:cNvPr>
          <p:cNvSpPr>
            <a:spLocks noGrp="1"/>
          </p:cNvSpPr>
          <p:nvPr/>
        </p:nvSpPr>
        <p:spPr>
          <a:xfrm>
            <a:off x="7620000" y="2809875"/>
            <a:ext cx="419100" cy="381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AAEDF49-4BDD-40B1-9999-3B8C629AB449}"/>
              </a:ext>
            </a:extLst>
          </p:cNvPr>
          <p:cNvSpPr>
            <a:spLocks noGrp="1"/>
          </p:cNvSpPr>
          <p:nvPr/>
        </p:nvSpPr>
        <p:spPr>
          <a:xfrm>
            <a:off x="6096000" y="2362200"/>
            <a:ext cx="1581150" cy="971550"/>
          </a:xfrm>
          <a:prstGeom prst="roundRect">
            <a:avLst>
              <a:gd name="adj" fmla="val 11765"/>
            </a:avLst>
          </a:prstGeom>
          <a:solidFill>
            <a:srgbClr val="101D2E"/>
          </a:solidFill>
          <a:ln w="9525">
            <a:solidFill>
              <a:srgbClr val="35D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B327B5A-6993-41CC-86D3-9FDA69FB8982}"/>
              </a:ext>
            </a:extLst>
          </p:cNvPr>
          <p:cNvSpPr>
            <a:spLocks noGrp="1"/>
          </p:cNvSpPr>
          <p:nvPr/>
        </p:nvSpPr>
        <p:spPr>
          <a:xfrm>
            <a:off x="6238875" y="24765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5D39A"/>
                </a:solidFill>
              </a:defRPr>
            </a:pPr>
            <a:r>
              <a:rPr sz="1350" b="1">
                <a:solidFill>
                  <a:srgbClr val="35D39A"/>
                </a:solidFill>
              </a:rPr>
              <a:t>4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62BA297-7CF8-4D3B-800A-D4F1E1F147BF}"/>
              </a:ext>
            </a:extLst>
          </p:cNvPr>
          <p:cNvSpPr>
            <a:spLocks noGrp="1"/>
          </p:cNvSpPr>
          <p:nvPr/>
        </p:nvSpPr>
        <p:spPr>
          <a:xfrm>
            <a:off x="6172200" y="27813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Declaração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B537EBE-4959-4E81-A277-C2DE298FEBC1}"/>
              </a:ext>
            </a:extLst>
          </p:cNvPr>
          <p:cNvSpPr>
            <a:spLocks noGrp="1"/>
          </p:cNvSpPr>
          <p:nvPr/>
        </p:nvSpPr>
        <p:spPr>
          <a:xfrm>
            <a:off x="9448800" y="2809875"/>
            <a:ext cx="419100" cy="381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8DB9A19-F3D7-4C80-9E70-F42E77F3478B}"/>
              </a:ext>
            </a:extLst>
          </p:cNvPr>
          <p:cNvSpPr>
            <a:spLocks noGrp="1"/>
          </p:cNvSpPr>
          <p:nvPr/>
        </p:nvSpPr>
        <p:spPr>
          <a:xfrm>
            <a:off x="7924800" y="2362200"/>
            <a:ext cx="1581150" cy="971550"/>
          </a:xfrm>
          <a:prstGeom prst="roundRect">
            <a:avLst>
              <a:gd name="adj" fmla="val 11765"/>
            </a:avLst>
          </a:prstGeom>
          <a:solidFill>
            <a:srgbClr val="101D2E"/>
          </a:solidFill>
          <a:ln w="9525">
            <a:solidFill>
              <a:srgbClr val="FFBE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E127A35-0E81-4FEC-AAE8-1F2493CC1B82}"/>
              </a:ext>
            </a:extLst>
          </p:cNvPr>
          <p:cNvSpPr>
            <a:spLocks noGrp="1"/>
          </p:cNvSpPr>
          <p:nvPr/>
        </p:nvSpPr>
        <p:spPr>
          <a:xfrm>
            <a:off x="8067675" y="24765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BE55"/>
                </a:solidFill>
              </a:defRPr>
            </a:pPr>
            <a:r>
              <a:rPr sz="1350" b="1">
                <a:solidFill>
                  <a:srgbClr val="FFBE55"/>
                </a:solidFill>
              </a:rPr>
              <a:t>5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5B1C445-B3E6-48E8-9892-1ED24434E929}"/>
              </a:ext>
            </a:extLst>
          </p:cNvPr>
          <p:cNvSpPr>
            <a:spLocks noGrp="1"/>
          </p:cNvSpPr>
          <p:nvPr/>
        </p:nvSpPr>
        <p:spPr>
          <a:xfrm>
            <a:off x="8001000" y="27813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EAP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6B7F0227-8043-4331-BA0E-93C926C51A20}"/>
              </a:ext>
            </a:extLst>
          </p:cNvPr>
          <p:cNvSpPr>
            <a:spLocks noGrp="1"/>
          </p:cNvSpPr>
          <p:nvPr/>
        </p:nvSpPr>
        <p:spPr>
          <a:xfrm>
            <a:off x="9753600" y="2362200"/>
            <a:ext cx="1581150" cy="971550"/>
          </a:xfrm>
          <a:prstGeom prst="roundRect">
            <a:avLst>
              <a:gd name="adj" fmla="val 11765"/>
            </a:avLst>
          </a:prstGeom>
          <a:solidFill>
            <a:srgbClr val="101D2E"/>
          </a:solidFill>
          <a:ln w="9525">
            <a:solidFill>
              <a:srgbClr val="36C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D6108B0-D98A-4893-9622-74B8B6B8EAD5}"/>
              </a:ext>
            </a:extLst>
          </p:cNvPr>
          <p:cNvSpPr>
            <a:spLocks noGrp="1"/>
          </p:cNvSpPr>
          <p:nvPr/>
        </p:nvSpPr>
        <p:spPr>
          <a:xfrm>
            <a:off x="9896475" y="24765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36C5F0"/>
                </a:solidFill>
              </a:defRPr>
            </a:pPr>
            <a:r>
              <a:rPr sz="1350" b="1">
                <a:solidFill>
                  <a:srgbClr val="36C5F0"/>
                </a:solidFill>
              </a:rPr>
              <a:t>6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5035C81-7A77-4F0A-8D42-6D8B7708100F}"/>
              </a:ext>
            </a:extLst>
          </p:cNvPr>
          <p:cNvSpPr>
            <a:spLocks noGrp="1"/>
          </p:cNvSpPr>
          <p:nvPr/>
        </p:nvSpPr>
        <p:spPr>
          <a:xfrm>
            <a:off x="9829800" y="27813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Controle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A2F9203-FD51-4AA9-9EE8-051D75F723ED}"/>
              </a:ext>
            </a:extLst>
          </p:cNvPr>
          <p:cNvSpPr>
            <a:spLocks noGrp="1"/>
          </p:cNvSpPr>
          <p:nvPr/>
        </p:nvSpPr>
        <p:spPr>
          <a:xfrm>
            <a:off x="1285875" y="4095750"/>
            <a:ext cx="962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F4F8FC"/>
                </a:solidFill>
              </a:defRPr>
            </a:pPr>
            <a:r>
              <a:rPr sz="2100" b="1">
                <a:solidFill>
                  <a:srgbClr val="F4F8FC"/>
                </a:solidFill>
              </a:rPr>
              <a:t>Cada artefato detalha, organiza ou controla compromissos assumidos no anterior.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220382C-DF94-490A-A80B-86718BFD3C32}"/>
              </a:ext>
            </a:extLst>
          </p:cNvPr>
          <p:cNvSpPr>
            <a:spLocks noGrp="1"/>
          </p:cNvSpPr>
          <p:nvPr/>
        </p:nvSpPr>
        <p:spPr>
          <a:xfrm>
            <a:off x="1809750" y="49339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A9B7C8"/>
                </a:solidFill>
              </a:defRPr>
            </a:pPr>
            <a:r>
              <a:rPr sz="1500" b="0">
                <a:solidFill>
                  <a:srgbClr val="A9B7C8"/>
                </a:solidFill>
              </a:rPr>
              <a:t>O objetivo é realizar todo o trabalho necessário — e apenas o necessário.</a:t>
            </a:r>
          </a:p>
        </p:txBody>
      </p:sp>
    </p:spTree>
    <p:extLst>
      <p:ext uri="{BB962C8B-B14F-4D97-AF65-F5344CB8AC3E}">
        <p14:creationId xmlns:p14="http://schemas.microsoft.com/office/powerpoint/2010/main" val="135883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7465D163-CEF3-4DC3-BECE-2E6A54C7EF6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3.1 · AUTORIZAÇÃO E ESCOPO INICIAL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5C81182-624C-4212-9059-4C93566237F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1905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759B609-AC1A-4A56-B83E-279E52FF82B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03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F07EC9-D86E-403B-9132-E69533DBEA52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B076F02-6B08-4074-A51A-4FFB409242E3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O TAP enquadra o escopo inicial do projeto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70ACFC0-4E56-4AD4-A381-778C9D541446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36C5F0"/>
                </a:solidFill>
              </a:defRPr>
            </a:pPr>
            <a:r>
              <a:rPr sz="2550" b="1">
                <a:solidFill>
                  <a:srgbClr val="36C5F0"/>
                </a:solidFill>
              </a:rPr>
              <a:t>Certidão de nascimento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B53D14A-FAF9-4ECA-ABB7-5E04B758539B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4667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F4F8FC"/>
                </a:solidFill>
              </a:defRPr>
            </a:pPr>
            <a:r>
              <a:rPr sz="1875" b="0">
                <a:solidFill>
                  <a:srgbClr val="F4F8FC"/>
                </a:solidFill>
              </a:rPr>
              <a:t>Autoriza o projeto e concede ao gerente autoridade para mobilizar recursos organizacionais.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C7E6920-90E9-4637-BF82-C822A3941619}"/>
              </a:ext>
            </a:extLst>
          </p:cNvPr>
          <p:cNvSpPr>
            <a:spLocks noGrp="1"/>
          </p:cNvSpPr>
          <p:nvPr/>
        </p:nvSpPr>
        <p:spPr>
          <a:xfrm>
            <a:off x="6153150" y="1638300"/>
            <a:ext cx="4762500" cy="3143250"/>
          </a:xfrm>
          <a:prstGeom prst="roundRect">
            <a:avLst>
              <a:gd name="adj" fmla="val 4242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67E8E34-C83A-445B-BA53-1A67AFD06D80}"/>
              </a:ext>
            </a:extLst>
          </p:cNvPr>
          <p:cNvSpPr>
            <a:spLocks noGrp="1"/>
          </p:cNvSpPr>
          <p:nvPr/>
        </p:nvSpPr>
        <p:spPr>
          <a:xfrm>
            <a:off x="6477000" y="1962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A9B7C8"/>
                </a:solidFill>
              </a:defRPr>
            </a:pPr>
            <a:r>
              <a:rPr sz="1500" b="1">
                <a:solidFill>
                  <a:srgbClr val="A9B7C8"/>
                </a:solidFill>
              </a:rPr>
              <a:t>Quem emite?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715D1DB-CC83-4A79-A011-2EBBEA2A3B1D}"/>
              </a:ext>
            </a:extLst>
          </p:cNvPr>
          <p:cNvSpPr>
            <a:spLocks noGrp="1"/>
          </p:cNvSpPr>
          <p:nvPr/>
        </p:nvSpPr>
        <p:spPr>
          <a:xfrm>
            <a:off x="6477000" y="2333625"/>
            <a:ext cx="381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325" b="1">
                <a:solidFill>
                  <a:srgbClr val="36C5F0"/>
                </a:solidFill>
              </a:defRPr>
            </a:pPr>
            <a:r>
              <a:rPr sz="2325" b="1">
                <a:solidFill>
                  <a:srgbClr val="36C5F0"/>
                </a:solidFill>
              </a:rPr>
              <a:t>Patrocinador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EB174E6-3FF7-4350-8EC6-F9E0E0096C85}"/>
              </a:ext>
            </a:extLst>
          </p:cNvPr>
          <p:cNvSpPr>
            <a:spLocks noGrp="1"/>
          </p:cNvSpPr>
          <p:nvPr/>
        </p:nvSpPr>
        <p:spPr>
          <a:xfrm>
            <a:off x="6477000" y="3067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A9B7C8"/>
                </a:solidFill>
              </a:defRPr>
            </a:pPr>
            <a:r>
              <a:rPr sz="1500" b="1">
                <a:solidFill>
                  <a:srgbClr val="A9B7C8"/>
                </a:solidFill>
              </a:rPr>
              <a:t>O que registra?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C2D977C-E4E2-4622-B524-DF353221D403}"/>
              </a:ext>
            </a:extLst>
          </p:cNvPr>
          <p:cNvSpPr>
            <a:spLocks noGrp="1"/>
          </p:cNvSpPr>
          <p:nvPr/>
        </p:nvSpPr>
        <p:spPr>
          <a:xfrm>
            <a:off x="6477000" y="3467100"/>
            <a:ext cx="3810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F4F8FC"/>
                </a:solidFill>
              </a:defRPr>
            </a:pPr>
            <a:r>
              <a:rPr sz="1650" b="0">
                <a:solidFill>
                  <a:srgbClr val="F4F8FC"/>
                </a:solidFill>
              </a:rPr>
              <a:t>Propósito · objetivos · requisitos de alto nível · limites · autoridade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7260565-330D-4E8A-9AF0-3A81CADDF5E3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BE55"/>
                </a:solidFill>
              </a:defRPr>
            </a:pPr>
            <a:r>
              <a:rPr sz="2025" b="1">
                <a:solidFill>
                  <a:srgbClr val="FFBE55"/>
                </a:solidFill>
              </a:rPr>
              <a:t>Sem autorização, há esforço — mas ainda não há projeto formal.</a:t>
            </a:r>
          </a:p>
        </p:txBody>
      </p:sp>
    </p:spTree>
    <p:extLst>
      <p:ext uri="{BB962C8B-B14F-4D97-AF65-F5344CB8AC3E}">
        <p14:creationId xmlns:p14="http://schemas.microsoft.com/office/powerpoint/2010/main" val="8453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52688-266D-3D64-CCFA-26465D5BD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82CA6EA-454E-B865-D07C-F0E7D249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Gerenciamento do escopo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9C3FBCD-A5FF-ECE0-0643-522A6CCD5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Inclui todas as atividades de gestão necessárias para assegurar que o projeto inclui todo o trabalho necessário, e </a:t>
            </a:r>
            <a:r>
              <a:rPr lang="pt-BR" b="1" dirty="0">
                <a:solidFill>
                  <a:srgbClr val="FF0000"/>
                </a:solidFill>
              </a:rPr>
              <a:t>apenas o necessário</a:t>
            </a:r>
            <a:r>
              <a:rPr lang="pt-BR" dirty="0"/>
              <a:t>, para encerrar o projeto com sucessos. </a:t>
            </a:r>
          </a:p>
          <a:p>
            <a:r>
              <a:rPr lang="pt-BR" dirty="0"/>
              <a:t>Relaciona-se principalmente com a definição e controle </a:t>
            </a:r>
            <a:r>
              <a:rPr lang="pt-BR" b="1" dirty="0">
                <a:solidFill>
                  <a:srgbClr val="FF0000"/>
                </a:solidFill>
              </a:rPr>
              <a:t>do que está e não está </a:t>
            </a:r>
            <a:r>
              <a:rPr lang="pt-BR" dirty="0"/>
              <a:t>incluso no projeto.</a:t>
            </a:r>
          </a:p>
          <a:p>
            <a:r>
              <a:rPr lang="pt-BR" b="1" dirty="0">
                <a:solidFill>
                  <a:srgbClr val="002060"/>
                </a:solidFill>
              </a:rPr>
              <a:t>Escopo do produto: </a:t>
            </a:r>
            <a:r>
              <a:rPr lang="pt-BR" dirty="0"/>
              <a:t>características e funções que definem um produto, serviço ou resultado;</a:t>
            </a:r>
          </a:p>
          <a:p>
            <a:r>
              <a:rPr lang="pt-BR" b="1" dirty="0">
                <a:solidFill>
                  <a:srgbClr val="002060"/>
                </a:solidFill>
              </a:rPr>
              <a:t>Escopo do projeto: </a:t>
            </a:r>
            <a:r>
              <a:rPr lang="pt-BR" dirty="0"/>
              <a:t>trabalho que deve ser realizado para entregar um produto, serviço ou resultado de acordo com as características e funções especificadas. </a:t>
            </a:r>
          </a:p>
          <a:p>
            <a:endParaRPr lang="pt-BR" dirty="0"/>
          </a:p>
          <a:p>
            <a:pPr>
              <a:buFont typeface="Wingdings" panose="05000000000000000000" pitchFamily="2" charset="2"/>
              <a:buChar char="ü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7027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9FA05432-A170-412D-A7AB-E462C2B0CD7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COMPREENDER E DELIMITAR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B940A42-5975-41D6-89EF-CF52FA39901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1905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8EE4EB5-0643-46B7-8AA6-492CE524042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06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5FEB348-F6EA-4F97-BF6B-9E521752BA0A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44BA82-81AA-4FE0-9979-351667B9893E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O escopo do projeto é maior que o pedido do cliente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B864B35-24B1-4F7F-8130-1E9E11CBCDC3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4572000" cy="2952750"/>
          </a:xfrm>
          <a:prstGeom prst="roundRect">
            <a:avLst>
              <a:gd name="adj" fmla="val 5161"/>
            </a:avLst>
          </a:prstGeom>
          <a:solidFill>
            <a:srgbClr val="101D2E"/>
          </a:solidFill>
          <a:ln w="9525">
            <a:solidFill>
              <a:srgbClr val="36C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AA07D05-9C25-4965-9E42-0A4436E92BCA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6C5F0"/>
                </a:solidFill>
              </a:defRPr>
            </a:pPr>
            <a:r>
              <a:rPr sz="1650" b="1">
                <a:solidFill>
                  <a:srgbClr val="36C5F0"/>
                </a:solidFill>
              </a:rPr>
              <a:t>ESCOPO PARA O CLIENTE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DE8BE5D-19F9-4B4E-B839-8973D811C3EE}"/>
              </a:ext>
            </a:extLst>
          </p:cNvPr>
          <p:cNvSpPr>
            <a:spLocks noGrp="1"/>
          </p:cNvSpPr>
          <p:nvPr/>
        </p:nvSpPr>
        <p:spPr>
          <a:xfrm>
            <a:off x="1190625" y="2781300"/>
            <a:ext cx="3810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4F8FC"/>
                </a:solidFill>
              </a:defRPr>
            </a:pPr>
            <a:r>
              <a:rPr sz="1875" b="1">
                <a:solidFill>
                  <a:srgbClr val="F4F8FC"/>
                </a:solidFill>
              </a:rPr>
              <a:t>Produtos, serviços e resultados que satisfazem suas necessidades.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2BFFFF2-3DEA-42E8-BA6E-007E77C976EE}"/>
              </a:ext>
            </a:extLst>
          </p:cNvPr>
          <p:cNvSpPr>
            <a:spLocks noGrp="1"/>
          </p:cNvSpPr>
          <p:nvPr/>
        </p:nvSpPr>
        <p:spPr>
          <a:xfrm>
            <a:off x="6667500" y="1524000"/>
            <a:ext cx="4572000" cy="3524250"/>
          </a:xfrm>
          <a:prstGeom prst="roundRect">
            <a:avLst>
              <a:gd name="adj" fmla="val 4324"/>
            </a:avLst>
          </a:prstGeom>
          <a:solidFill>
            <a:srgbClr val="14263A"/>
          </a:solidFill>
          <a:ln w="9525">
            <a:solidFill>
              <a:srgbClr val="9A7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31642E4-0D83-48DE-8E4F-8B3BAEDB808E}"/>
              </a:ext>
            </a:extLst>
          </p:cNvPr>
          <p:cNvSpPr>
            <a:spLocks noGrp="1"/>
          </p:cNvSpPr>
          <p:nvPr/>
        </p:nvSpPr>
        <p:spPr>
          <a:xfrm>
            <a:off x="7000875" y="182880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9A7BFF"/>
                </a:solidFill>
              </a:defRPr>
            </a:pPr>
            <a:r>
              <a:rPr sz="1650" b="1">
                <a:solidFill>
                  <a:srgbClr val="9A7BFF"/>
                </a:solidFill>
              </a:rPr>
              <a:t>ESCOPO DO PROJETO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FCD9001-6986-463F-B64E-5B17C779624E}"/>
              </a:ext>
            </a:extLst>
          </p:cNvPr>
          <p:cNvSpPr>
            <a:spLocks noGrp="1"/>
          </p:cNvSpPr>
          <p:nvPr/>
        </p:nvSpPr>
        <p:spPr>
          <a:xfrm>
            <a:off x="7124700" y="2524125"/>
            <a:ext cx="36671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4F8FC"/>
                </a:solidFill>
              </a:defRPr>
            </a:pPr>
            <a:r>
              <a:rPr sz="1800" b="1">
                <a:solidFill>
                  <a:srgbClr val="F4F8FC"/>
                </a:solidFill>
              </a:rPr>
              <a:t>Inclui as entregas ao cliente + todo o trabalho necessário para produzi-las, testá-las e aceitá-las.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504B6F0-6C6A-40D6-964E-68C6849C6EE5}"/>
              </a:ext>
            </a:extLst>
          </p:cNvPr>
          <p:cNvSpPr>
            <a:spLocks noGrp="1"/>
          </p:cNvSpPr>
          <p:nvPr/>
        </p:nvSpPr>
        <p:spPr>
          <a:xfrm>
            <a:off x="1905000" y="4333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Pedido explícito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3DC962D-D291-489A-A234-E8442F4FC17D}"/>
              </a:ext>
            </a:extLst>
          </p:cNvPr>
          <p:cNvSpPr>
            <a:spLocks noGrp="1"/>
          </p:cNvSpPr>
          <p:nvPr/>
        </p:nvSpPr>
        <p:spPr>
          <a:xfrm>
            <a:off x="7029450" y="4324350"/>
            <a:ext cx="3857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Aquisições · licenças · testes · treinamento · gestão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3959D2-FF1A-4648-86BB-7825A0244390}"/>
              </a:ext>
            </a:extLst>
          </p:cNvPr>
          <p:cNvSpPr>
            <a:spLocks noGrp="1"/>
          </p:cNvSpPr>
          <p:nvPr/>
        </p:nvSpPr>
        <p:spPr>
          <a:xfrm>
            <a:off x="1143000" y="5476875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FBE55"/>
                </a:solidFill>
              </a:defRPr>
            </a:pPr>
            <a:r>
              <a:rPr sz="1950" b="1">
                <a:solidFill>
                  <a:srgbClr val="FFBE55"/>
                </a:solidFill>
              </a:rPr>
              <a:t>A equipe precisa entender a necessidade, não apenas repetir a solicitação.</a:t>
            </a:r>
          </a:p>
        </p:txBody>
      </p:sp>
    </p:spTree>
    <p:extLst>
      <p:ext uri="{BB962C8B-B14F-4D97-AF65-F5344CB8AC3E}">
        <p14:creationId xmlns:p14="http://schemas.microsoft.com/office/powerpoint/2010/main" val="1166538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E78A279-3AF0-2693-D7FE-54E4692BF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53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F31864A-8583-1294-494B-7A3818B0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gerenciamento do escopo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A783618-D38C-F264-248A-79CA56C96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pt-BR" sz="2800" dirty="0"/>
              <a:t>Criação da EAP e como a EAP será mantida;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pt-BR" sz="2800" dirty="0"/>
              <a:t>Como será obtida a aceitação formal das entregas;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ü"/>
            </a:pPr>
            <a:r>
              <a:rPr lang="pt-BR" sz="2800" dirty="0"/>
              <a:t>Controle das solicitações de mudança do escopo.</a:t>
            </a:r>
            <a:endParaRPr lang="pt-BR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Priorização dos requisitos;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Métricas do produto e a justificativa pela sua adoção;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Estrutura de rastreabilidade que reflita quais atributos serão capturados na matriz de rastreabilidade;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0328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ACEC0CB-B8E3-FF9B-BA69-4C166384A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89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215BFC5-C775-DC41-3E61-01D631554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17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43E87B9-432B-9663-12E1-B3E9D5B3D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6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B0E1220-BE79-1FEF-80D7-FC2AA3B29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060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6F2D8A78-B11A-49EE-8F8A-0199B6C2B1D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REQUISITOS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4DED1FE-B106-4E10-977F-9D1D480E5DD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1905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7495947-B95A-4F7F-9145-E3D5F0F8980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09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06A4884-D4FF-4D86-90A5-00A18D06C09D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5864320-ED2D-4D36-9073-A62F239B93C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F4F8FC"/>
                </a:solidFill>
              </a:defRPr>
            </a:pPr>
            <a:r>
              <a:rPr sz="2400" b="1">
                <a:solidFill>
                  <a:srgbClr val="F4F8FC"/>
                </a:solidFill>
              </a:rPr>
              <a:t>Cada técnica revela uma dimensão dos requisitos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0941D4D-3380-495A-BD30-76ABA626D885}"/>
              </a:ext>
            </a:extLst>
          </p:cNvPr>
          <p:cNvSpPr>
            <a:spLocks noGrp="1"/>
          </p:cNvSpPr>
          <p:nvPr/>
        </p:nvSpPr>
        <p:spPr>
          <a:xfrm>
            <a:off x="714375" y="1676400"/>
            <a:ext cx="3238500" cy="1600200"/>
          </a:xfrm>
          <a:prstGeom prst="roundRect">
            <a:avLst>
              <a:gd name="adj" fmla="val 7143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0687E5A-F83F-4EC6-82BC-79144E918871}"/>
              </a:ext>
            </a:extLst>
          </p:cNvPr>
          <p:cNvSpPr>
            <a:spLocks noGrp="1"/>
          </p:cNvSpPr>
          <p:nvPr/>
        </p:nvSpPr>
        <p:spPr>
          <a:xfrm>
            <a:off x="714375" y="1676400"/>
            <a:ext cx="66675" cy="1600200"/>
          </a:xfrm>
          <a:prstGeom prst="rect">
            <a:avLst/>
          </a:prstGeom>
          <a:solidFill>
            <a:srgbClr val="36C5F0"/>
          </a:solidFill>
          <a:ln w="0">
            <a:solidFill>
              <a:srgbClr val="36C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6DFD637-E196-4B36-B1CF-F7A500FA1112}"/>
              </a:ext>
            </a:extLst>
          </p:cNvPr>
          <p:cNvSpPr>
            <a:spLocks noGrp="1"/>
          </p:cNvSpPr>
          <p:nvPr/>
        </p:nvSpPr>
        <p:spPr>
          <a:xfrm>
            <a:off x="942975" y="182880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Entender o contexto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5910830-1D6C-43D5-A0AC-6F37F0731836}"/>
              </a:ext>
            </a:extLst>
          </p:cNvPr>
          <p:cNvSpPr>
            <a:spLocks noGrp="1"/>
          </p:cNvSpPr>
          <p:nvPr/>
        </p:nvSpPr>
        <p:spPr>
          <a:xfrm>
            <a:off x="942975" y="2228850"/>
            <a:ext cx="2838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Entrevistas</a:t>
            </a:r>
          </a:p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Observação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22B127F-3F21-4A8D-AF75-C43D2B40E597}"/>
              </a:ext>
            </a:extLst>
          </p:cNvPr>
          <p:cNvSpPr>
            <a:spLocks noGrp="1"/>
          </p:cNvSpPr>
          <p:nvPr/>
        </p:nvSpPr>
        <p:spPr>
          <a:xfrm>
            <a:off x="4476750" y="1676400"/>
            <a:ext cx="3238500" cy="1600200"/>
          </a:xfrm>
          <a:prstGeom prst="roundRect">
            <a:avLst>
              <a:gd name="adj" fmla="val 7143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7DB4F70-C984-4D5A-AFCC-EE6B13C7ECCD}"/>
              </a:ext>
            </a:extLst>
          </p:cNvPr>
          <p:cNvSpPr>
            <a:spLocks noGrp="1"/>
          </p:cNvSpPr>
          <p:nvPr/>
        </p:nvSpPr>
        <p:spPr>
          <a:xfrm>
            <a:off x="4476750" y="1676400"/>
            <a:ext cx="66675" cy="1600200"/>
          </a:xfrm>
          <a:prstGeom prst="rect">
            <a:avLst/>
          </a:prstGeom>
          <a:solidFill>
            <a:srgbClr val="9A7BFF"/>
          </a:solidFill>
          <a:ln w="0">
            <a:solidFill>
              <a:srgbClr val="9A7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0AC8852-B967-482F-AB80-E4ACAC8F5AE6}"/>
              </a:ext>
            </a:extLst>
          </p:cNvPr>
          <p:cNvSpPr>
            <a:spLocks noGrp="1"/>
          </p:cNvSpPr>
          <p:nvPr/>
        </p:nvSpPr>
        <p:spPr>
          <a:xfrm>
            <a:off x="4705350" y="182880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Construir consenso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DF5C03A-C5A7-4395-BF71-E058DB77D2FB}"/>
              </a:ext>
            </a:extLst>
          </p:cNvPr>
          <p:cNvSpPr>
            <a:spLocks noGrp="1"/>
          </p:cNvSpPr>
          <p:nvPr/>
        </p:nvSpPr>
        <p:spPr>
          <a:xfrm>
            <a:off x="4705350" y="2228850"/>
            <a:ext cx="2838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Grupos de foco</a:t>
            </a:r>
          </a:p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Workshops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E1605CB-EB4C-462A-AB6A-B3923DDD306C}"/>
              </a:ext>
            </a:extLst>
          </p:cNvPr>
          <p:cNvSpPr>
            <a:spLocks noGrp="1"/>
          </p:cNvSpPr>
          <p:nvPr/>
        </p:nvSpPr>
        <p:spPr>
          <a:xfrm>
            <a:off x="8239125" y="1676400"/>
            <a:ext cx="3238500" cy="1600200"/>
          </a:xfrm>
          <a:prstGeom prst="roundRect">
            <a:avLst>
              <a:gd name="adj" fmla="val 7143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0E29062-0700-4CA2-8186-CB17BE266872}"/>
              </a:ext>
            </a:extLst>
          </p:cNvPr>
          <p:cNvSpPr>
            <a:spLocks noGrp="1"/>
          </p:cNvSpPr>
          <p:nvPr/>
        </p:nvSpPr>
        <p:spPr>
          <a:xfrm>
            <a:off x="8239125" y="1676400"/>
            <a:ext cx="66675" cy="1600200"/>
          </a:xfrm>
          <a:prstGeom prst="rect">
            <a:avLst/>
          </a:prstGeom>
          <a:solidFill>
            <a:srgbClr val="FFBE55"/>
          </a:solidFill>
          <a:ln w="0">
            <a:solidFill>
              <a:srgbClr val="FFBE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AEA63B4-7103-46DC-93BC-A61154798B1D}"/>
              </a:ext>
            </a:extLst>
          </p:cNvPr>
          <p:cNvSpPr>
            <a:spLocks noGrp="1"/>
          </p:cNvSpPr>
          <p:nvPr/>
        </p:nvSpPr>
        <p:spPr>
          <a:xfrm>
            <a:off x="8467725" y="182880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Ampliar possibilidades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ADEC43B-F09D-4375-8308-F2B3C9A2D75F}"/>
              </a:ext>
            </a:extLst>
          </p:cNvPr>
          <p:cNvSpPr>
            <a:spLocks noGrp="1"/>
          </p:cNvSpPr>
          <p:nvPr/>
        </p:nvSpPr>
        <p:spPr>
          <a:xfrm>
            <a:off x="8467725" y="2228850"/>
            <a:ext cx="2838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Brainstorming</a:t>
            </a:r>
          </a:p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Mapas mentais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F7DFFD8-3BB6-407A-8162-DC9A9C7F5CC9}"/>
              </a:ext>
            </a:extLst>
          </p:cNvPr>
          <p:cNvSpPr>
            <a:spLocks noGrp="1"/>
          </p:cNvSpPr>
          <p:nvPr/>
        </p:nvSpPr>
        <p:spPr>
          <a:xfrm>
            <a:off x="2571750" y="3714750"/>
            <a:ext cx="3238500" cy="1600200"/>
          </a:xfrm>
          <a:prstGeom prst="roundRect">
            <a:avLst>
              <a:gd name="adj" fmla="val 7143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4C352B1-2C2C-45F5-BCD5-3C243867D587}"/>
              </a:ext>
            </a:extLst>
          </p:cNvPr>
          <p:cNvSpPr>
            <a:spLocks noGrp="1"/>
          </p:cNvSpPr>
          <p:nvPr/>
        </p:nvSpPr>
        <p:spPr>
          <a:xfrm>
            <a:off x="2571750" y="3714750"/>
            <a:ext cx="66675" cy="1600200"/>
          </a:xfrm>
          <a:prstGeom prst="rect">
            <a:avLst/>
          </a:prstGeom>
          <a:solidFill>
            <a:srgbClr val="35D39A"/>
          </a:solidFill>
          <a:ln w="0">
            <a:solidFill>
              <a:srgbClr val="35D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8AB78A1-CA25-4E41-BEC9-C646B0B6CA60}"/>
              </a:ext>
            </a:extLst>
          </p:cNvPr>
          <p:cNvSpPr>
            <a:spLocks noGrp="1"/>
          </p:cNvSpPr>
          <p:nvPr/>
        </p:nvSpPr>
        <p:spPr>
          <a:xfrm>
            <a:off x="2800350" y="386715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Consultar muitos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53B3722-1CEC-47BA-8530-68F2C1976497}"/>
              </a:ext>
            </a:extLst>
          </p:cNvPr>
          <p:cNvSpPr>
            <a:spLocks noGrp="1"/>
          </p:cNvSpPr>
          <p:nvPr/>
        </p:nvSpPr>
        <p:spPr>
          <a:xfrm>
            <a:off x="2800350" y="4267200"/>
            <a:ext cx="2838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Questionários</a:t>
            </a:r>
          </a:p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Pesquisas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4B8789D-7868-4054-B0D5-AD5366558677}"/>
              </a:ext>
            </a:extLst>
          </p:cNvPr>
          <p:cNvSpPr>
            <a:spLocks noGrp="1"/>
          </p:cNvSpPr>
          <p:nvPr/>
        </p:nvSpPr>
        <p:spPr>
          <a:xfrm>
            <a:off x="6334125" y="3714750"/>
            <a:ext cx="3238500" cy="1600200"/>
          </a:xfrm>
          <a:prstGeom prst="roundRect">
            <a:avLst>
              <a:gd name="adj" fmla="val 7143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2A8CD9C-B331-4467-B93A-7C9262F92686}"/>
              </a:ext>
            </a:extLst>
          </p:cNvPr>
          <p:cNvSpPr>
            <a:spLocks noGrp="1"/>
          </p:cNvSpPr>
          <p:nvPr/>
        </p:nvSpPr>
        <p:spPr>
          <a:xfrm>
            <a:off x="6334125" y="3714750"/>
            <a:ext cx="66675" cy="1600200"/>
          </a:xfrm>
          <a:prstGeom prst="rect">
            <a:avLst/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CC49466-B975-4AC4-B85D-D4D571C8D274}"/>
              </a:ext>
            </a:extLst>
          </p:cNvPr>
          <p:cNvSpPr>
            <a:spLocks noGrp="1"/>
          </p:cNvSpPr>
          <p:nvPr/>
        </p:nvSpPr>
        <p:spPr>
          <a:xfrm>
            <a:off x="6562725" y="3867150"/>
            <a:ext cx="2838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Tornar concreto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2FD5848-5E42-445F-80DB-ACFAF0833D55}"/>
              </a:ext>
            </a:extLst>
          </p:cNvPr>
          <p:cNvSpPr>
            <a:spLocks noGrp="1"/>
          </p:cNvSpPr>
          <p:nvPr/>
        </p:nvSpPr>
        <p:spPr>
          <a:xfrm>
            <a:off x="6562725" y="4267200"/>
            <a:ext cx="2838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Protótipos</a:t>
            </a:r>
          </a:p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Opinião especializada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F780BF2-D5C2-43CD-AE1C-84AE2E112657}"/>
              </a:ext>
            </a:extLst>
          </p:cNvPr>
          <p:cNvSpPr>
            <a:spLocks noGrp="1"/>
          </p:cNvSpPr>
          <p:nvPr/>
        </p:nvSpPr>
        <p:spPr>
          <a:xfrm>
            <a:off x="1095375" y="5667375"/>
            <a:ext cx="1000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4F8FC"/>
                </a:solidFill>
              </a:defRPr>
            </a:pPr>
            <a:r>
              <a:rPr sz="1800" b="1">
                <a:solidFill>
                  <a:srgbClr val="F4F8FC"/>
                </a:solidFill>
              </a:rPr>
              <a:t>Coletar requisitos é investigar, confrontar e validar — não apenas anotar pedidos.</a:t>
            </a:r>
          </a:p>
        </p:txBody>
      </p:sp>
    </p:spTree>
    <p:extLst>
      <p:ext uri="{BB962C8B-B14F-4D97-AF65-F5344CB8AC3E}">
        <p14:creationId xmlns:p14="http://schemas.microsoft.com/office/powerpoint/2010/main" val="149867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981DD31-0EF0-2539-0406-069B295451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96"/>
          <a:stretch>
            <a:fillRect/>
          </a:stretch>
        </p:blipFill>
        <p:spPr bwMode="auto">
          <a:xfrm>
            <a:off x="0" y="581893"/>
            <a:ext cx="12192000" cy="54017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14322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B3727D44-DA5C-41CF-8BC5-FB1D861CF04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DEFINIR O ESCOPO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F8B601F-D54C-419D-8207-32791CE8F9E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1905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BD4C3A2-A699-43B2-8D13-5A66B96BB30A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826FF1D-C7A7-42DC-9BFA-645DA5862EB3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6BE39E3-24A0-4CD1-8E63-5998BCFFD23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Definir escopo exige compreender o produto e escolher uma estratégia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7EA3CA-2591-43F8-968B-E47ACE3ADEFF}"/>
              </a:ext>
            </a:extLst>
          </p:cNvPr>
          <p:cNvSpPr>
            <a:spLocks noGrp="1"/>
          </p:cNvSpPr>
          <p:nvPr/>
        </p:nvSpPr>
        <p:spPr>
          <a:xfrm>
            <a:off x="714375" y="1714500"/>
            <a:ext cx="3333750" cy="2381250"/>
          </a:xfrm>
          <a:prstGeom prst="roundRect">
            <a:avLst>
              <a:gd name="adj" fmla="val 4800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AFB0406-CE24-41CB-9E9C-1DF707048E0F}"/>
              </a:ext>
            </a:extLst>
          </p:cNvPr>
          <p:cNvSpPr>
            <a:spLocks noGrp="1"/>
          </p:cNvSpPr>
          <p:nvPr/>
        </p:nvSpPr>
        <p:spPr>
          <a:xfrm>
            <a:off x="714375" y="1714500"/>
            <a:ext cx="66675" cy="2381250"/>
          </a:xfrm>
          <a:prstGeom prst="rect">
            <a:avLst/>
          </a:prstGeom>
          <a:solidFill>
            <a:srgbClr val="36C5F0"/>
          </a:solidFill>
          <a:ln w="0">
            <a:solidFill>
              <a:srgbClr val="36C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9650CCC-F01A-408E-B028-B852B2772A8E}"/>
              </a:ext>
            </a:extLst>
          </p:cNvPr>
          <p:cNvSpPr>
            <a:spLocks noGrp="1"/>
          </p:cNvSpPr>
          <p:nvPr/>
        </p:nvSpPr>
        <p:spPr>
          <a:xfrm>
            <a:off x="942975" y="1866900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1 · Analisar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3EC096E-8C21-48E5-9060-0CA9AAA31D01}"/>
              </a:ext>
            </a:extLst>
          </p:cNvPr>
          <p:cNvSpPr>
            <a:spLocks noGrp="1"/>
          </p:cNvSpPr>
          <p:nvPr/>
        </p:nvSpPr>
        <p:spPr>
          <a:xfrm>
            <a:off x="942975" y="2266950"/>
            <a:ext cx="29337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Conhecer funções, tecnologia, interfaces e critérios do produto.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04DC1D2-1DE1-4986-9101-11CC92673CBC}"/>
              </a:ext>
            </a:extLst>
          </p:cNvPr>
          <p:cNvSpPr>
            <a:spLocks noGrp="1"/>
          </p:cNvSpPr>
          <p:nvPr/>
        </p:nvSpPr>
        <p:spPr>
          <a:xfrm>
            <a:off x="4429125" y="1714500"/>
            <a:ext cx="3333750" cy="2381250"/>
          </a:xfrm>
          <a:prstGeom prst="roundRect">
            <a:avLst>
              <a:gd name="adj" fmla="val 4800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C1A9B9E-9BA2-443B-A2B7-3644DEDF9454}"/>
              </a:ext>
            </a:extLst>
          </p:cNvPr>
          <p:cNvSpPr>
            <a:spLocks noGrp="1"/>
          </p:cNvSpPr>
          <p:nvPr/>
        </p:nvSpPr>
        <p:spPr>
          <a:xfrm>
            <a:off x="4429125" y="1714500"/>
            <a:ext cx="66675" cy="2381250"/>
          </a:xfrm>
          <a:prstGeom prst="rect">
            <a:avLst/>
          </a:prstGeom>
          <a:solidFill>
            <a:srgbClr val="9A7BFF"/>
          </a:solidFill>
          <a:ln w="0">
            <a:solidFill>
              <a:srgbClr val="9A7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BF6CE30-BAFE-4308-BF84-E6686496E10D}"/>
              </a:ext>
            </a:extLst>
          </p:cNvPr>
          <p:cNvSpPr>
            <a:spLocks noGrp="1"/>
          </p:cNvSpPr>
          <p:nvPr/>
        </p:nvSpPr>
        <p:spPr>
          <a:xfrm>
            <a:off x="4657725" y="1866900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2 · Divergir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BEB7B08-CCB4-4A4B-AE16-5E02A6CF6E83}"/>
              </a:ext>
            </a:extLst>
          </p:cNvPr>
          <p:cNvSpPr>
            <a:spLocks noGrp="1"/>
          </p:cNvSpPr>
          <p:nvPr/>
        </p:nvSpPr>
        <p:spPr>
          <a:xfrm>
            <a:off x="4657725" y="2266950"/>
            <a:ext cx="29337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Gerar alternativas sem julgamento prematuro: brainstorming e pensamento lateral.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2744669-EC00-42DA-B874-BA716F1FB8F7}"/>
              </a:ext>
            </a:extLst>
          </p:cNvPr>
          <p:cNvSpPr>
            <a:spLocks noGrp="1"/>
          </p:cNvSpPr>
          <p:nvPr/>
        </p:nvSpPr>
        <p:spPr>
          <a:xfrm>
            <a:off x="8143875" y="1714500"/>
            <a:ext cx="3333750" cy="2381250"/>
          </a:xfrm>
          <a:prstGeom prst="roundRect">
            <a:avLst>
              <a:gd name="adj" fmla="val 4800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6C1EDE5-7B67-432B-B91A-EDE5CE388CE3}"/>
              </a:ext>
            </a:extLst>
          </p:cNvPr>
          <p:cNvSpPr>
            <a:spLocks noGrp="1"/>
          </p:cNvSpPr>
          <p:nvPr/>
        </p:nvSpPr>
        <p:spPr>
          <a:xfrm>
            <a:off x="8143875" y="1714500"/>
            <a:ext cx="66675" cy="2381250"/>
          </a:xfrm>
          <a:prstGeom prst="rect">
            <a:avLst/>
          </a:prstGeom>
          <a:solidFill>
            <a:srgbClr val="35D39A"/>
          </a:solidFill>
          <a:ln w="0">
            <a:solidFill>
              <a:srgbClr val="35D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CA4C0C2-8F97-4D71-88B7-73FA1BC9E172}"/>
              </a:ext>
            </a:extLst>
          </p:cNvPr>
          <p:cNvSpPr>
            <a:spLocks noGrp="1"/>
          </p:cNvSpPr>
          <p:nvPr/>
        </p:nvSpPr>
        <p:spPr>
          <a:xfrm>
            <a:off x="8372475" y="1866900"/>
            <a:ext cx="2933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3 · Convergir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23255F5-7812-4DF9-9355-13DEB394B797}"/>
              </a:ext>
            </a:extLst>
          </p:cNvPr>
          <p:cNvSpPr>
            <a:spLocks noGrp="1"/>
          </p:cNvSpPr>
          <p:nvPr/>
        </p:nvSpPr>
        <p:spPr>
          <a:xfrm>
            <a:off x="8372475" y="2266950"/>
            <a:ext cx="29337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Comparar prazo, custo, desempenho, riscos, recursos e restrições.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0FC5A4C-3DB6-4FDE-913D-FD67F897ACDC}"/>
              </a:ext>
            </a:extLst>
          </p:cNvPr>
          <p:cNvSpPr>
            <a:spLocks noGrp="1"/>
          </p:cNvSpPr>
          <p:nvPr/>
        </p:nvSpPr>
        <p:spPr>
          <a:xfrm>
            <a:off x="1428750" y="4762500"/>
            <a:ext cx="933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FBE55"/>
                </a:solidFill>
              </a:defRPr>
            </a:pPr>
            <a:r>
              <a:rPr sz="2175" b="1">
                <a:solidFill>
                  <a:srgbClr val="FFBE55"/>
                </a:solidFill>
              </a:rPr>
              <a:t>A opção escolhida torna-se parte da estratégia de condução do projeto.</a:t>
            </a:r>
          </a:p>
        </p:txBody>
      </p:sp>
    </p:spTree>
    <p:extLst>
      <p:ext uri="{BB962C8B-B14F-4D97-AF65-F5344CB8AC3E}">
        <p14:creationId xmlns:p14="http://schemas.microsoft.com/office/powerpoint/2010/main" val="1744933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32D269CF-BB60-4160-BC8B-9DE920B9AFA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REQUISITOS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959D04A-5DDB-4258-909F-D8D0CB70BB2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1905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EC6EF23-553D-48BD-B1C5-9F46DF4D2D3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B0E7AAA-A46A-4A55-B9CF-B6A84CFFFADC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ADFEF98-7B51-4F48-A34C-703DB5EAD29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Um requisito só ajuda se puder ser verificado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DC20A42-D925-4A65-A563-7D600CC62C66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2238375" cy="419100"/>
          </a:xfrm>
          <a:prstGeom prst="roundRect">
            <a:avLst>
              <a:gd name="adj" fmla="val 22727"/>
            </a:avLst>
          </a:prstGeom>
          <a:solidFill>
            <a:srgbClr val="14263A"/>
          </a:solidFill>
          <a:ln w="9525">
            <a:solidFill>
              <a:srgbClr val="36C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4957329-9996-4FA9-9A10-CDCC8CB59025}"/>
              </a:ext>
            </a:extLst>
          </p:cNvPr>
          <p:cNvSpPr>
            <a:spLocks noGrp="1"/>
          </p:cNvSpPr>
          <p:nvPr/>
        </p:nvSpPr>
        <p:spPr>
          <a:xfrm>
            <a:off x="1143000" y="1828800"/>
            <a:ext cx="2047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Consistente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889FFEC-7E29-4AD9-9868-B2FEB9650858}"/>
              </a:ext>
            </a:extLst>
          </p:cNvPr>
          <p:cNvSpPr>
            <a:spLocks noGrp="1"/>
          </p:cNvSpPr>
          <p:nvPr/>
        </p:nvSpPr>
        <p:spPr>
          <a:xfrm>
            <a:off x="3667125" y="1809750"/>
            <a:ext cx="2238375" cy="419100"/>
          </a:xfrm>
          <a:prstGeom prst="roundRect">
            <a:avLst>
              <a:gd name="adj" fmla="val 22727"/>
            </a:avLst>
          </a:prstGeom>
          <a:solidFill>
            <a:srgbClr val="14263A"/>
          </a:solidFill>
          <a:ln w="9525">
            <a:solidFill>
              <a:srgbClr val="9A7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0E2F7D9-307F-455C-8B79-693D56C7C157}"/>
              </a:ext>
            </a:extLst>
          </p:cNvPr>
          <p:cNvSpPr>
            <a:spLocks noGrp="1"/>
          </p:cNvSpPr>
          <p:nvPr/>
        </p:nvSpPr>
        <p:spPr>
          <a:xfrm>
            <a:off x="3762375" y="1828800"/>
            <a:ext cx="2047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Completo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5C73460-21F7-4FF8-B008-BA9EB898EF0C}"/>
              </a:ext>
            </a:extLst>
          </p:cNvPr>
          <p:cNvSpPr>
            <a:spLocks noGrp="1"/>
          </p:cNvSpPr>
          <p:nvPr/>
        </p:nvSpPr>
        <p:spPr>
          <a:xfrm>
            <a:off x="6286500" y="1809750"/>
            <a:ext cx="2238375" cy="419100"/>
          </a:xfrm>
          <a:prstGeom prst="roundRect">
            <a:avLst>
              <a:gd name="adj" fmla="val 22727"/>
            </a:avLst>
          </a:prstGeom>
          <a:solidFill>
            <a:srgbClr val="14263A"/>
          </a:solidFill>
          <a:ln w="9525">
            <a:solidFill>
              <a:srgbClr val="35D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9A229BF-DCFC-4644-9FC3-44929A2851E1}"/>
              </a:ext>
            </a:extLst>
          </p:cNvPr>
          <p:cNvSpPr>
            <a:spLocks noGrp="1"/>
          </p:cNvSpPr>
          <p:nvPr/>
        </p:nvSpPr>
        <p:spPr>
          <a:xfrm>
            <a:off x="6381750" y="1828800"/>
            <a:ext cx="2047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Mensurável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84E4D16-EB22-42E1-BB6C-F0DEA70693E1}"/>
              </a:ext>
            </a:extLst>
          </p:cNvPr>
          <p:cNvSpPr>
            <a:spLocks noGrp="1"/>
          </p:cNvSpPr>
          <p:nvPr/>
        </p:nvSpPr>
        <p:spPr>
          <a:xfrm>
            <a:off x="8905875" y="1809750"/>
            <a:ext cx="2238375" cy="419100"/>
          </a:xfrm>
          <a:prstGeom prst="roundRect">
            <a:avLst>
              <a:gd name="adj" fmla="val 22727"/>
            </a:avLst>
          </a:prstGeom>
          <a:solidFill>
            <a:srgbClr val="14263A"/>
          </a:solidFill>
          <a:ln w="9525">
            <a:solidFill>
              <a:srgbClr val="FFBE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62DAC29-6DD7-4451-B9CC-DCADE93A5CEF}"/>
              </a:ext>
            </a:extLst>
          </p:cNvPr>
          <p:cNvSpPr>
            <a:spLocks noGrp="1"/>
          </p:cNvSpPr>
          <p:nvPr/>
        </p:nvSpPr>
        <p:spPr>
          <a:xfrm>
            <a:off x="9001125" y="1828800"/>
            <a:ext cx="2047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Testável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2E051E4-D434-40BE-B6D1-AD754417F05D}"/>
              </a:ext>
            </a:extLst>
          </p:cNvPr>
          <p:cNvSpPr>
            <a:spLocks noGrp="1"/>
          </p:cNvSpPr>
          <p:nvPr/>
        </p:nvSpPr>
        <p:spPr>
          <a:xfrm>
            <a:off x="1000125" y="2857500"/>
            <a:ext cx="1009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4F8FC"/>
                </a:solidFill>
              </a:defRPr>
            </a:pPr>
            <a:r>
              <a:rPr sz="1950" b="1">
                <a:solidFill>
                  <a:srgbClr val="F4F8FC"/>
                </a:solidFill>
              </a:rPr>
              <a:t>A matriz de rastreabilidade conecta cada requisito a: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BD12430-3F53-47A0-9099-72205305D0D6}"/>
              </a:ext>
            </a:extLst>
          </p:cNvPr>
          <p:cNvSpPr>
            <a:spLocks noGrp="1"/>
          </p:cNvSpPr>
          <p:nvPr/>
        </p:nvSpPr>
        <p:spPr>
          <a:xfrm>
            <a:off x="904875" y="3619500"/>
            <a:ext cx="1762125" cy="419100"/>
          </a:xfrm>
          <a:prstGeom prst="roundRect">
            <a:avLst>
              <a:gd name="adj" fmla="val 22727"/>
            </a:avLst>
          </a:prstGeom>
          <a:solidFill>
            <a:srgbClr val="14263A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64F3C1E-7E86-4C12-AE67-1C3630A1CD5F}"/>
              </a:ext>
            </a:extLst>
          </p:cNvPr>
          <p:cNvSpPr>
            <a:spLocks noGrp="1"/>
          </p:cNvSpPr>
          <p:nvPr/>
        </p:nvSpPr>
        <p:spPr>
          <a:xfrm>
            <a:off x="1000125" y="3638550"/>
            <a:ext cx="1571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origem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F5E5BB5-3C35-4243-89B2-FEDDF4BAD66D}"/>
              </a:ext>
            </a:extLst>
          </p:cNvPr>
          <p:cNvSpPr>
            <a:spLocks noGrp="1"/>
          </p:cNvSpPr>
          <p:nvPr/>
        </p:nvSpPr>
        <p:spPr>
          <a:xfrm>
            <a:off x="3000375" y="3619500"/>
            <a:ext cx="1762125" cy="419100"/>
          </a:xfrm>
          <a:prstGeom prst="roundRect">
            <a:avLst>
              <a:gd name="adj" fmla="val 22727"/>
            </a:avLst>
          </a:prstGeom>
          <a:solidFill>
            <a:srgbClr val="14263A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E135563-17BC-41F4-AB50-2EB26CE6F90D}"/>
              </a:ext>
            </a:extLst>
          </p:cNvPr>
          <p:cNvSpPr>
            <a:spLocks noGrp="1"/>
          </p:cNvSpPr>
          <p:nvPr/>
        </p:nvSpPr>
        <p:spPr>
          <a:xfrm>
            <a:off x="3095625" y="3638550"/>
            <a:ext cx="1571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objetivo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6E0982E-F726-4700-9D4B-91FA2013451A}"/>
              </a:ext>
            </a:extLst>
          </p:cNvPr>
          <p:cNvSpPr>
            <a:spLocks noGrp="1"/>
          </p:cNvSpPr>
          <p:nvPr/>
        </p:nvSpPr>
        <p:spPr>
          <a:xfrm>
            <a:off x="5095875" y="3619500"/>
            <a:ext cx="1762125" cy="419100"/>
          </a:xfrm>
          <a:prstGeom prst="roundRect">
            <a:avLst>
              <a:gd name="adj" fmla="val 22727"/>
            </a:avLst>
          </a:prstGeom>
          <a:solidFill>
            <a:srgbClr val="14263A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746A13B-462C-461E-9F8E-E407AD762220}"/>
              </a:ext>
            </a:extLst>
          </p:cNvPr>
          <p:cNvSpPr>
            <a:spLocks noGrp="1"/>
          </p:cNvSpPr>
          <p:nvPr/>
        </p:nvSpPr>
        <p:spPr>
          <a:xfrm>
            <a:off x="5191125" y="3638550"/>
            <a:ext cx="1571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entrega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580078F-6E7B-432C-9B8C-9709C4794874}"/>
              </a:ext>
            </a:extLst>
          </p:cNvPr>
          <p:cNvSpPr>
            <a:spLocks noGrp="1"/>
          </p:cNvSpPr>
          <p:nvPr/>
        </p:nvSpPr>
        <p:spPr>
          <a:xfrm>
            <a:off x="7191375" y="3619500"/>
            <a:ext cx="1762125" cy="419100"/>
          </a:xfrm>
          <a:prstGeom prst="roundRect">
            <a:avLst>
              <a:gd name="adj" fmla="val 22727"/>
            </a:avLst>
          </a:prstGeom>
          <a:solidFill>
            <a:srgbClr val="14263A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60F1865-5AA8-4CBF-8E6E-6E3C8F06B309}"/>
              </a:ext>
            </a:extLst>
          </p:cNvPr>
          <p:cNvSpPr>
            <a:spLocks noGrp="1"/>
          </p:cNvSpPr>
          <p:nvPr/>
        </p:nvSpPr>
        <p:spPr>
          <a:xfrm>
            <a:off x="7286625" y="3638550"/>
            <a:ext cx="1571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critério de aceite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1A036C2-E26C-4D92-B735-19D1A2FBA73F}"/>
              </a:ext>
            </a:extLst>
          </p:cNvPr>
          <p:cNvSpPr>
            <a:spLocks noGrp="1"/>
          </p:cNvSpPr>
          <p:nvPr/>
        </p:nvSpPr>
        <p:spPr>
          <a:xfrm>
            <a:off x="9286875" y="3619500"/>
            <a:ext cx="1762125" cy="419100"/>
          </a:xfrm>
          <a:prstGeom prst="roundRect">
            <a:avLst>
              <a:gd name="adj" fmla="val 22727"/>
            </a:avLst>
          </a:prstGeom>
          <a:solidFill>
            <a:srgbClr val="14263A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9751741-1CE7-4261-8A84-B4A9F7FDD3CA}"/>
              </a:ext>
            </a:extLst>
          </p:cNvPr>
          <p:cNvSpPr>
            <a:spLocks noGrp="1"/>
          </p:cNvSpPr>
          <p:nvPr/>
        </p:nvSpPr>
        <p:spPr>
          <a:xfrm>
            <a:off x="9382125" y="3638550"/>
            <a:ext cx="1571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status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0E7AF30-5F27-4786-A892-B5EE19708753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36C5F0"/>
                </a:solidFill>
              </a:defRPr>
            </a:pPr>
            <a:r>
              <a:rPr sz="2175" b="1">
                <a:solidFill>
                  <a:srgbClr val="36C5F0"/>
                </a:solidFill>
              </a:rPr>
              <a:t>Antes de aceitar ou alterar, a equipe precisa enxergar os impactos.</a:t>
            </a:r>
          </a:p>
        </p:txBody>
      </p:sp>
    </p:spTree>
    <p:extLst>
      <p:ext uri="{BB962C8B-B14F-4D97-AF65-F5344CB8AC3E}">
        <p14:creationId xmlns:p14="http://schemas.microsoft.com/office/powerpoint/2010/main" val="1524716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4B0FE0EA-38C4-4239-ADDA-D6BDD6CB662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DECLARAÇÃO DO ESCOPO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226DCCA-016F-4942-9723-3496B3E8406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1905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A0AA5FC-D338-416B-A5DE-30FD80BAF55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14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F4B0832-01B3-4294-AFB6-C9E65DE9B73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EAED063-4902-459E-B852-2253118A1F8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A Declaração do Escopo consolida o entendimento comum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795845A-77AA-4128-9F8E-52AF22D0C1DC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3333750" cy="1047750"/>
          </a:xfrm>
          <a:prstGeom prst="roundRect">
            <a:avLst>
              <a:gd name="adj" fmla="val 10909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48922EA-854E-4926-8111-1D383403E4FA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76200" cy="1047750"/>
          </a:xfrm>
          <a:prstGeom prst="rect">
            <a:avLst/>
          </a:prstGeom>
          <a:solidFill>
            <a:srgbClr val="36C5F0"/>
          </a:solidFill>
          <a:ln w="0">
            <a:solidFill>
              <a:srgbClr val="36C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C2AFE6C-526F-4A5E-A22E-F3AEC8475FBA}"/>
              </a:ext>
            </a:extLst>
          </p:cNvPr>
          <p:cNvSpPr>
            <a:spLocks noGrp="1"/>
          </p:cNvSpPr>
          <p:nvPr/>
        </p:nvSpPr>
        <p:spPr>
          <a:xfrm>
            <a:off x="990600" y="1857375"/>
            <a:ext cx="2905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Escopo do cliente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A995EFF-6284-43FA-9286-B48519B3ABFA}"/>
              </a:ext>
            </a:extLst>
          </p:cNvPr>
          <p:cNvSpPr>
            <a:spLocks noGrp="1"/>
          </p:cNvSpPr>
          <p:nvPr/>
        </p:nvSpPr>
        <p:spPr>
          <a:xfrm>
            <a:off x="4476750" y="1666875"/>
            <a:ext cx="3333750" cy="1047750"/>
          </a:xfrm>
          <a:prstGeom prst="roundRect">
            <a:avLst>
              <a:gd name="adj" fmla="val 10909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B3882B-75E6-4499-8BE9-D34EC56ADA04}"/>
              </a:ext>
            </a:extLst>
          </p:cNvPr>
          <p:cNvSpPr>
            <a:spLocks noGrp="1"/>
          </p:cNvSpPr>
          <p:nvPr/>
        </p:nvSpPr>
        <p:spPr>
          <a:xfrm>
            <a:off x="4476750" y="1666875"/>
            <a:ext cx="76200" cy="1047750"/>
          </a:xfrm>
          <a:prstGeom prst="rect">
            <a:avLst/>
          </a:prstGeom>
          <a:solidFill>
            <a:srgbClr val="9A7BFF"/>
          </a:solidFill>
          <a:ln w="0">
            <a:solidFill>
              <a:srgbClr val="9A7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225A4CE-3437-4523-BFE1-A766196D1B99}"/>
              </a:ext>
            </a:extLst>
          </p:cNvPr>
          <p:cNvSpPr>
            <a:spLocks noGrp="1"/>
          </p:cNvSpPr>
          <p:nvPr/>
        </p:nvSpPr>
        <p:spPr>
          <a:xfrm>
            <a:off x="4705350" y="1857375"/>
            <a:ext cx="2905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Principais entregas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5BBD353-FED7-4ADD-A5B8-31D289FBF5ED}"/>
              </a:ext>
            </a:extLst>
          </p:cNvPr>
          <p:cNvSpPr>
            <a:spLocks noGrp="1"/>
          </p:cNvSpPr>
          <p:nvPr/>
        </p:nvSpPr>
        <p:spPr>
          <a:xfrm>
            <a:off x="8191500" y="1666875"/>
            <a:ext cx="3333750" cy="1047750"/>
          </a:xfrm>
          <a:prstGeom prst="roundRect">
            <a:avLst>
              <a:gd name="adj" fmla="val 10909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6331FAC-87EC-4529-8245-006B2B7F4AF4}"/>
              </a:ext>
            </a:extLst>
          </p:cNvPr>
          <p:cNvSpPr>
            <a:spLocks noGrp="1"/>
          </p:cNvSpPr>
          <p:nvPr/>
        </p:nvSpPr>
        <p:spPr>
          <a:xfrm>
            <a:off x="8191500" y="1666875"/>
            <a:ext cx="76200" cy="1047750"/>
          </a:xfrm>
          <a:prstGeom prst="rect">
            <a:avLst/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8CC9870-8A28-478F-A4D2-D0889402889C}"/>
              </a:ext>
            </a:extLst>
          </p:cNvPr>
          <p:cNvSpPr>
            <a:spLocks noGrp="1"/>
          </p:cNvSpPr>
          <p:nvPr/>
        </p:nvSpPr>
        <p:spPr>
          <a:xfrm>
            <a:off x="8420100" y="1857375"/>
            <a:ext cx="2905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Limites e não escopo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E107A2B-38E7-4108-B39E-8AA2703E98C2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3333750" cy="1047750"/>
          </a:xfrm>
          <a:prstGeom prst="roundRect">
            <a:avLst>
              <a:gd name="adj" fmla="val 10909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587F27D-FE8B-416E-A849-0C4A5CD94D78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76200" cy="1047750"/>
          </a:xfrm>
          <a:prstGeom prst="rect">
            <a:avLst/>
          </a:prstGeom>
          <a:solidFill>
            <a:srgbClr val="35D39A"/>
          </a:solidFill>
          <a:ln w="0">
            <a:solidFill>
              <a:srgbClr val="35D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7FA1321-EE75-40B5-A502-DF6DAA37E7F4}"/>
              </a:ext>
            </a:extLst>
          </p:cNvPr>
          <p:cNvSpPr>
            <a:spLocks noGrp="1"/>
          </p:cNvSpPr>
          <p:nvPr/>
        </p:nvSpPr>
        <p:spPr>
          <a:xfrm>
            <a:off x="990600" y="3286125"/>
            <a:ext cx="2905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Critérios de aceite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2F2B725F-F9F2-4345-81FF-345C31A97738}"/>
              </a:ext>
            </a:extLst>
          </p:cNvPr>
          <p:cNvSpPr>
            <a:spLocks noGrp="1"/>
          </p:cNvSpPr>
          <p:nvPr/>
        </p:nvSpPr>
        <p:spPr>
          <a:xfrm>
            <a:off x="4476750" y="3095625"/>
            <a:ext cx="3333750" cy="1047750"/>
          </a:xfrm>
          <a:prstGeom prst="roundRect">
            <a:avLst>
              <a:gd name="adj" fmla="val 10909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4738889-A60A-4A4C-9943-E5877C852151}"/>
              </a:ext>
            </a:extLst>
          </p:cNvPr>
          <p:cNvSpPr>
            <a:spLocks noGrp="1"/>
          </p:cNvSpPr>
          <p:nvPr/>
        </p:nvSpPr>
        <p:spPr>
          <a:xfrm>
            <a:off x="4476750" y="3095625"/>
            <a:ext cx="76200" cy="1047750"/>
          </a:xfrm>
          <a:prstGeom prst="rect">
            <a:avLst/>
          </a:prstGeom>
          <a:solidFill>
            <a:srgbClr val="FFBE55"/>
          </a:solidFill>
          <a:ln w="0">
            <a:solidFill>
              <a:srgbClr val="FFBE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D85E1B4-6078-4C0F-B09C-245A0DA4CACB}"/>
              </a:ext>
            </a:extLst>
          </p:cNvPr>
          <p:cNvSpPr>
            <a:spLocks noGrp="1"/>
          </p:cNvSpPr>
          <p:nvPr/>
        </p:nvSpPr>
        <p:spPr>
          <a:xfrm>
            <a:off x="4705350" y="3286125"/>
            <a:ext cx="2905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Estratégia de condução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AC4555AA-DD3F-4008-9B9C-91E5F8B1299D}"/>
              </a:ext>
            </a:extLst>
          </p:cNvPr>
          <p:cNvSpPr>
            <a:spLocks noGrp="1"/>
          </p:cNvSpPr>
          <p:nvPr/>
        </p:nvSpPr>
        <p:spPr>
          <a:xfrm>
            <a:off x="8191500" y="3095625"/>
            <a:ext cx="3333750" cy="1047750"/>
          </a:xfrm>
          <a:prstGeom prst="roundRect">
            <a:avLst>
              <a:gd name="adj" fmla="val 10909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2532537-D24D-49A2-87AE-C8AF90B0FBEE}"/>
              </a:ext>
            </a:extLst>
          </p:cNvPr>
          <p:cNvSpPr>
            <a:spLocks noGrp="1"/>
          </p:cNvSpPr>
          <p:nvPr/>
        </p:nvSpPr>
        <p:spPr>
          <a:xfrm>
            <a:off x="8191500" y="3095625"/>
            <a:ext cx="76200" cy="1047750"/>
          </a:xfrm>
          <a:prstGeom prst="rect">
            <a:avLst/>
          </a:prstGeom>
          <a:solidFill>
            <a:srgbClr val="36C5F0"/>
          </a:solidFill>
          <a:ln w="0">
            <a:solidFill>
              <a:srgbClr val="36C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B06AC03-5F49-423C-AC80-1A353B425156}"/>
              </a:ext>
            </a:extLst>
          </p:cNvPr>
          <p:cNvSpPr>
            <a:spLocks noGrp="1"/>
          </p:cNvSpPr>
          <p:nvPr/>
        </p:nvSpPr>
        <p:spPr>
          <a:xfrm>
            <a:off x="8420100" y="3286125"/>
            <a:ext cx="2905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Premissas e restrições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55FCFAD-2C15-4665-8C5D-79E0948634DC}"/>
              </a:ext>
            </a:extLst>
          </p:cNvPr>
          <p:cNvSpPr>
            <a:spLocks noGrp="1"/>
          </p:cNvSpPr>
          <p:nvPr/>
        </p:nvSpPr>
        <p:spPr>
          <a:xfrm>
            <a:off x="1285875" y="5048250"/>
            <a:ext cx="962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FFBE55"/>
                </a:solidFill>
              </a:defRPr>
            </a:pPr>
            <a:r>
              <a:rPr sz="2100" b="1">
                <a:solidFill>
                  <a:srgbClr val="FFBE55"/>
                </a:solidFill>
              </a:rPr>
              <a:t>Detalhar pode esclarecer o TAP — não alterá-lo informalmente.</a:t>
            </a:r>
          </a:p>
        </p:txBody>
      </p:sp>
    </p:spTree>
    <p:extLst>
      <p:ext uri="{BB962C8B-B14F-4D97-AF65-F5344CB8AC3E}">
        <p14:creationId xmlns:p14="http://schemas.microsoft.com/office/powerpoint/2010/main" val="2004556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4F8AAFCD-7A2D-4258-BCB7-6CA5A702A9D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3.3 · ESTRUTURAR O ESCOPO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7936C27-642E-4953-B6AC-00052B51522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1905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CB0C12A-99ED-4253-951B-AC493CBA8E2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9979E5D-1A3B-426F-A5B6-36D8AC7AE88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03E965A-DEC1-4DB0-8932-83241FE96E3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A EAP decompõe o escopo em partes gerenciáveis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3A1980F-4690-4739-B47B-E26E90D2D51B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428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35D39A"/>
                </a:solidFill>
              </a:defRPr>
            </a:pPr>
            <a:r>
              <a:rPr sz="3600" b="1">
                <a:solidFill>
                  <a:srgbClr val="35D39A"/>
                </a:solidFill>
              </a:rPr>
              <a:t>EAP / WBS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172F25E-8374-43B1-AFEA-BC2ACE430A7F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F4F8FC"/>
                </a:solidFill>
              </a:defRPr>
            </a:pPr>
            <a:r>
              <a:rPr sz="2175" b="1">
                <a:solidFill>
                  <a:srgbClr val="F4F8FC"/>
                </a:solidFill>
              </a:rPr>
              <a:t>Decomposição hierárquica orientada às entregas.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6FED54E-8204-470A-B462-8129C61D704F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4762500" cy="3048000"/>
          </a:xfrm>
          <a:prstGeom prst="roundRect">
            <a:avLst>
              <a:gd name="adj" fmla="val 4375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9B006D2-C1BB-4D10-B3F5-0DA25C7BDF9B}"/>
              </a:ext>
            </a:extLst>
          </p:cNvPr>
          <p:cNvSpPr>
            <a:spLocks noGrp="1"/>
          </p:cNvSpPr>
          <p:nvPr/>
        </p:nvSpPr>
        <p:spPr>
          <a:xfrm>
            <a:off x="7620000" y="19431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36C5F0"/>
                </a:solidFill>
              </a:defRPr>
            </a:pPr>
            <a:r>
              <a:rPr sz="2100" b="1">
                <a:solidFill>
                  <a:srgbClr val="36C5F0"/>
                </a:solidFill>
              </a:rPr>
              <a:t>Projeto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FAB632-E57D-4938-9344-5E4D97431DD8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A9B7C8"/>
                </a:solidFill>
              </a:defRPr>
            </a:pPr>
            <a:r>
              <a:rPr sz="2100" b="1">
                <a:solidFill>
                  <a:srgbClr val="A9B7C8"/>
                </a:solidFill>
              </a:rPr>
              <a:t>↓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36A03C3-9D31-4BC7-9446-A2FD0339EC58}"/>
              </a:ext>
            </a:extLst>
          </p:cNvPr>
          <p:cNvSpPr>
            <a:spLocks noGrp="1"/>
          </p:cNvSpPr>
          <p:nvPr/>
        </p:nvSpPr>
        <p:spPr>
          <a:xfrm>
            <a:off x="7524750" y="278130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9A7BFF"/>
                </a:solidFill>
              </a:defRPr>
            </a:pPr>
            <a:r>
              <a:rPr sz="1950" b="1">
                <a:solidFill>
                  <a:srgbClr val="9A7BFF"/>
                </a:solidFill>
              </a:rPr>
              <a:t>Entregas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FFA8087-335D-4C5E-9EE8-ADABD578E9B9}"/>
              </a:ext>
            </a:extLst>
          </p:cNvPr>
          <p:cNvSpPr>
            <a:spLocks noGrp="1"/>
          </p:cNvSpPr>
          <p:nvPr/>
        </p:nvSpPr>
        <p:spPr>
          <a:xfrm>
            <a:off x="8191500" y="323850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A9B7C8"/>
                </a:solidFill>
              </a:defRPr>
            </a:pPr>
            <a:r>
              <a:rPr sz="2100" b="1">
                <a:solidFill>
                  <a:srgbClr val="A9B7C8"/>
                </a:solidFill>
              </a:rPr>
              <a:t>↓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B9A9982-9AA7-4754-BCB1-C8C378CCC1B2}"/>
              </a:ext>
            </a:extLst>
          </p:cNvPr>
          <p:cNvSpPr>
            <a:spLocks noGrp="1"/>
          </p:cNvSpPr>
          <p:nvPr/>
        </p:nvSpPr>
        <p:spPr>
          <a:xfrm>
            <a:off x="6953250" y="36480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35D39A"/>
                </a:solidFill>
              </a:defRPr>
            </a:pPr>
            <a:r>
              <a:rPr sz="1875" b="1">
                <a:solidFill>
                  <a:srgbClr val="35D39A"/>
                </a:solidFill>
              </a:rPr>
              <a:t>Pacotes de trabalho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EEB79E6-0E03-4ABA-B8AF-3C82CBF1E597}"/>
              </a:ext>
            </a:extLst>
          </p:cNvPr>
          <p:cNvSpPr>
            <a:spLocks noGrp="1"/>
          </p:cNvSpPr>
          <p:nvPr/>
        </p:nvSpPr>
        <p:spPr>
          <a:xfrm>
            <a:off x="1333500" y="527685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FBE55"/>
                </a:solidFill>
              </a:defRPr>
            </a:pPr>
            <a:r>
              <a:rPr sz="2175" b="1">
                <a:solidFill>
                  <a:srgbClr val="FFBE55"/>
                </a:solidFill>
              </a:rPr>
              <a:t>A EAP representa resultados; as atividades vêm depois.</a:t>
            </a:r>
          </a:p>
        </p:txBody>
      </p:sp>
    </p:spTree>
    <p:extLst>
      <p:ext uri="{BB962C8B-B14F-4D97-AF65-F5344CB8AC3E}">
        <p14:creationId xmlns:p14="http://schemas.microsoft.com/office/powerpoint/2010/main" val="586312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77E9B6C-4C70-950A-E601-800F750CA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9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B5801BD-D02A-E8EB-06B6-915F0F58A00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9"/>
          <a:stretch>
            <a:fillRect/>
          </a:stretch>
        </p:blipFill>
        <p:spPr bwMode="auto">
          <a:xfrm>
            <a:off x="748148" y="72736"/>
            <a:ext cx="10733807" cy="67070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94070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9FF13FB-B614-6C5A-EE81-F23DEB68A7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23"/>
          <a:stretch>
            <a:fillRect/>
          </a:stretch>
        </p:blipFill>
        <p:spPr bwMode="auto">
          <a:xfrm>
            <a:off x="826047" y="220284"/>
            <a:ext cx="10687080" cy="64174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1782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9E1C6-6CBC-4D4D-8594-284BFD480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FB54219-8505-057C-6C5D-3D866CC2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do escopo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F0254AA-EBBD-F5A9-7052-1E753C9D1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Busca assegurar que o trabalho executado permaneça aderente ao planejamento aprovado. </a:t>
            </a:r>
          </a:p>
          <a:p>
            <a:r>
              <a:rPr lang="pt-BR" dirty="0"/>
              <a:t>Alterações sucessivas e não controladas podem comprometer progressivamente custo, prazo, qualidade e desempenho do empreendimento. </a:t>
            </a:r>
          </a:p>
          <a:p>
            <a:r>
              <a:rPr lang="pt-BR" i="1" dirty="0" err="1"/>
              <a:t>scope</a:t>
            </a:r>
            <a:r>
              <a:rPr lang="pt-BR" i="1" dirty="0"/>
              <a:t> </a:t>
            </a:r>
            <a:r>
              <a:rPr lang="pt-BR" i="1" dirty="0" err="1"/>
              <a:t>creep</a:t>
            </a:r>
            <a:r>
              <a:rPr lang="pt-BR" dirty="0"/>
              <a:t> — o </a:t>
            </a:r>
            <a:r>
              <a:rPr lang="pt-BR" b="1" dirty="0"/>
              <a:t>crescimento gradual e não controlado do escopo</a:t>
            </a:r>
            <a:r>
              <a:rPr lang="pt-BR" dirty="0"/>
              <a:t>, normalmente decorrente da aceitação informal de pequenas solicitações de mudança sem avaliação formal de impacto — e</a:t>
            </a:r>
          </a:p>
          <a:p>
            <a:r>
              <a:rPr lang="pt-BR" i="1" dirty="0" err="1"/>
              <a:t>gold</a:t>
            </a:r>
            <a:r>
              <a:rPr lang="pt-BR" i="1" dirty="0"/>
              <a:t> </a:t>
            </a:r>
            <a:r>
              <a:rPr lang="pt-BR" i="1" dirty="0" err="1"/>
              <a:t>plating</a:t>
            </a:r>
            <a:r>
              <a:rPr lang="pt-BR" dirty="0"/>
              <a:t> — a </a:t>
            </a:r>
            <a:r>
              <a:rPr lang="pt-BR" b="1" dirty="0"/>
              <a:t>inclusão de funcionalidades não solicitadas pelo cliente</a:t>
            </a:r>
            <a:r>
              <a:rPr lang="pt-BR" dirty="0"/>
              <a:t>, geralmente motivada pelo entusiasmo técnico da própria equipe de desenvolvimento, e que consome recursos sem gerar valor correspondente.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5296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BF33FA9-20B0-11D8-21E1-EF366BD1D9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2"/>
          <a:stretch>
            <a:fillRect/>
          </a:stretch>
        </p:blipFill>
        <p:spPr bwMode="auto">
          <a:xfrm>
            <a:off x="665021" y="31173"/>
            <a:ext cx="10993582" cy="67832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15398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7AB017C9-9D3B-4BC3-8A0D-A1D8FE5EBD8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3.3 · INTEGRAÇÃO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4730402-2125-4D09-8E0A-DCBF1E404A2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1905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2A64ACA-B2D7-4DDC-8E91-41CC8BCD830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18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191E28C-20F8-48EF-A035-81342AD3143D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09FD2B8-5EA1-4F77-92A2-57DED746C62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F4F8FC"/>
                </a:solidFill>
              </a:defRPr>
            </a:pPr>
            <a:r>
              <a:rPr sz="2550" b="1">
                <a:solidFill>
                  <a:srgbClr val="F4F8FC"/>
                </a:solidFill>
              </a:rPr>
              <a:t>A EAP conecta o escopo aos demais planos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07055B8-B4A0-49A0-B2FE-A3F12F099976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3048000" cy="1238250"/>
          </a:xfrm>
          <a:prstGeom prst="roundRect">
            <a:avLst>
              <a:gd name="adj" fmla="val 13846"/>
            </a:avLst>
          </a:prstGeom>
          <a:solidFill>
            <a:srgbClr val="14263A"/>
          </a:solidFill>
          <a:ln w="9525">
            <a:solidFill>
              <a:srgbClr val="35D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9262E17-7624-4487-86D8-BF8698F6964D}"/>
              </a:ext>
            </a:extLst>
          </p:cNvPr>
          <p:cNvSpPr>
            <a:spLocks noGrp="1"/>
          </p:cNvSpPr>
          <p:nvPr/>
        </p:nvSpPr>
        <p:spPr>
          <a:xfrm>
            <a:off x="4953000" y="2619375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35D39A"/>
                </a:solidFill>
              </a:defRPr>
            </a:pPr>
            <a:r>
              <a:rPr sz="2850" b="1">
                <a:solidFill>
                  <a:srgbClr val="35D39A"/>
                </a:solidFill>
              </a:rPr>
              <a:t>EAP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4FA975F-DED4-49AD-A5EB-5F0144ECCCDC}"/>
              </a:ext>
            </a:extLst>
          </p:cNvPr>
          <p:cNvSpPr>
            <a:spLocks noGrp="1"/>
          </p:cNvSpPr>
          <p:nvPr/>
        </p:nvSpPr>
        <p:spPr>
          <a:xfrm>
            <a:off x="4953000" y="31051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escopo estruturado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EEEC5B9-B963-4936-8658-5EA0DC849F73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2857500" cy="904875"/>
          </a:xfrm>
          <a:prstGeom prst="roundRect">
            <a:avLst>
              <a:gd name="adj" fmla="val 12632"/>
            </a:avLst>
          </a:prstGeom>
          <a:solidFill>
            <a:srgbClr val="101D2E"/>
          </a:solidFill>
          <a:ln w="9525">
            <a:solidFill>
              <a:srgbClr val="36C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6D6F116-47F2-48F9-8241-54E46515FC74}"/>
              </a:ext>
            </a:extLst>
          </p:cNvPr>
          <p:cNvSpPr>
            <a:spLocks noGrp="1"/>
          </p:cNvSpPr>
          <p:nvPr/>
        </p:nvSpPr>
        <p:spPr>
          <a:xfrm>
            <a:off x="1000125" y="19050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Cronograma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62FA493-9785-4B1A-ADC7-E6501B3D0BE2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2857500" cy="904875"/>
          </a:xfrm>
          <a:prstGeom prst="roundRect">
            <a:avLst>
              <a:gd name="adj" fmla="val 12632"/>
            </a:avLst>
          </a:prstGeom>
          <a:solidFill>
            <a:srgbClr val="101D2E"/>
          </a:solidFill>
          <a:ln w="9525">
            <a:solidFill>
              <a:srgbClr val="9A7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9B5FA06-35BE-47C5-8591-5B0E7BA66B13}"/>
              </a:ext>
            </a:extLst>
          </p:cNvPr>
          <p:cNvSpPr>
            <a:spLocks noGrp="1"/>
          </p:cNvSpPr>
          <p:nvPr/>
        </p:nvSpPr>
        <p:spPr>
          <a:xfrm>
            <a:off x="1000125" y="40957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Custos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7F73775-3A69-441F-AEDB-0ACF30D87A08}"/>
              </a:ext>
            </a:extLst>
          </p:cNvPr>
          <p:cNvSpPr>
            <a:spLocks noGrp="1"/>
          </p:cNvSpPr>
          <p:nvPr/>
        </p:nvSpPr>
        <p:spPr>
          <a:xfrm>
            <a:off x="4476750" y="4476750"/>
            <a:ext cx="2857500" cy="904875"/>
          </a:xfrm>
          <a:prstGeom prst="roundRect">
            <a:avLst>
              <a:gd name="adj" fmla="val 12632"/>
            </a:avLst>
          </a:prstGeom>
          <a:solidFill>
            <a:srgbClr val="101D2E"/>
          </a:solidFill>
          <a:ln w="9525">
            <a:solidFill>
              <a:srgbClr val="FFBE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625E57A-427B-4BAF-8827-3554F9904010}"/>
              </a:ext>
            </a:extLst>
          </p:cNvPr>
          <p:cNvSpPr>
            <a:spLocks noGrp="1"/>
          </p:cNvSpPr>
          <p:nvPr/>
        </p:nvSpPr>
        <p:spPr>
          <a:xfrm>
            <a:off x="4619625" y="46672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Recursos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430342C-3182-4C92-BA35-91CC3F607293}"/>
              </a:ext>
            </a:extLst>
          </p:cNvPr>
          <p:cNvSpPr>
            <a:spLocks noGrp="1"/>
          </p:cNvSpPr>
          <p:nvPr/>
        </p:nvSpPr>
        <p:spPr>
          <a:xfrm>
            <a:off x="8096250" y="3905250"/>
            <a:ext cx="2857500" cy="904875"/>
          </a:xfrm>
          <a:prstGeom prst="roundRect">
            <a:avLst>
              <a:gd name="adj" fmla="val 12632"/>
            </a:avLst>
          </a:prstGeom>
          <a:solidFill>
            <a:srgbClr val="101D2E"/>
          </a:solidFill>
          <a:ln w="95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618B841-281A-460F-9431-51EF4FEFA6E5}"/>
              </a:ext>
            </a:extLst>
          </p:cNvPr>
          <p:cNvSpPr>
            <a:spLocks noGrp="1"/>
          </p:cNvSpPr>
          <p:nvPr/>
        </p:nvSpPr>
        <p:spPr>
          <a:xfrm>
            <a:off x="8239125" y="40957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Riscos e qualidade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25214CB-8704-4DD2-9F32-8455920E8069}"/>
              </a:ext>
            </a:extLst>
          </p:cNvPr>
          <p:cNvSpPr>
            <a:spLocks noGrp="1"/>
          </p:cNvSpPr>
          <p:nvPr/>
        </p:nvSpPr>
        <p:spPr>
          <a:xfrm>
            <a:off x="8096250" y="1714500"/>
            <a:ext cx="2857500" cy="904875"/>
          </a:xfrm>
          <a:prstGeom prst="roundRect">
            <a:avLst>
              <a:gd name="adj" fmla="val 12632"/>
            </a:avLst>
          </a:prstGeom>
          <a:solidFill>
            <a:srgbClr val="101D2E"/>
          </a:solidFill>
          <a:ln w="9525">
            <a:solidFill>
              <a:srgbClr val="35D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6639FA8-E133-4EC5-863C-0DED20B9BA31}"/>
              </a:ext>
            </a:extLst>
          </p:cNvPr>
          <p:cNvSpPr>
            <a:spLocks noGrp="1"/>
          </p:cNvSpPr>
          <p:nvPr/>
        </p:nvSpPr>
        <p:spPr>
          <a:xfrm>
            <a:off x="8239125" y="19050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Aquisições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56B9D9E-2BFA-44AD-BB25-57714F209313}"/>
              </a:ext>
            </a:extLst>
          </p:cNvPr>
          <p:cNvSpPr>
            <a:spLocks noGrp="1"/>
          </p:cNvSpPr>
          <p:nvPr/>
        </p:nvSpPr>
        <p:spPr>
          <a:xfrm>
            <a:off x="1666875" y="5715000"/>
            <a:ext cx="885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4F8FC"/>
                </a:solidFill>
              </a:defRPr>
            </a:pPr>
            <a:r>
              <a:rPr sz="1800" b="1">
                <a:solidFill>
                  <a:srgbClr val="F4F8FC"/>
                </a:solidFill>
              </a:rPr>
              <a:t>Todos os planos devem referir-se ao mesmo conjunto de entregas.</a:t>
            </a:r>
          </a:p>
        </p:txBody>
      </p:sp>
    </p:spTree>
    <p:extLst>
      <p:ext uri="{BB962C8B-B14F-4D97-AF65-F5344CB8AC3E}">
        <p14:creationId xmlns:p14="http://schemas.microsoft.com/office/powerpoint/2010/main" val="646322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FE9CBFFC-AC71-4596-A782-3D1F9553C62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3.4 · INTERFACE COM O CRONOGRAMA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D73F935-CB0E-4F61-A993-156EAC6C70D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1905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1336FF6-07D7-4183-91A4-8D9D9E4A553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19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01FB5AE-6CC6-4D0D-A6CF-5959C7BA05DC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D8777E5-18B4-44A3-A343-2DFA445891E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F4F8FC"/>
                </a:solidFill>
              </a:defRPr>
            </a:pPr>
            <a:r>
              <a:rPr sz="2550" b="1">
                <a:solidFill>
                  <a:srgbClr val="F4F8FC"/>
                </a:solidFill>
              </a:rPr>
              <a:t>A EAP fornece a base para detalhar o cronograma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8C80181-7F25-498F-8DEB-FCF487DE543F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35D39A"/>
                </a:solidFill>
              </a:defRPr>
            </a:pPr>
            <a:r>
              <a:rPr sz="1800" b="1">
                <a:solidFill>
                  <a:srgbClr val="35D39A"/>
                </a:solidFill>
              </a:rPr>
              <a:t>Pacote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DCFD3A4-1EBB-45C6-85BB-919346AF5E21}"/>
              </a:ext>
            </a:extLst>
          </p:cNvPr>
          <p:cNvSpPr>
            <a:spLocks noGrp="1"/>
          </p:cNvSpPr>
          <p:nvPr/>
        </p:nvSpPr>
        <p:spPr>
          <a:xfrm>
            <a:off x="2495550" y="1666875"/>
            <a:ext cx="57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A9B7C8"/>
                </a:solidFill>
              </a:defRPr>
            </a:pPr>
            <a:r>
              <a:rPr sz="2100" b="1">
                <a:solidFill>
                  <a:srgbClr val="A9B7C8"/>
                </a:solidFill>
              </a:rPr>
              <a:t>→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2D216BA-AC8D-4C51-A573-97BF4094BD81}"/>
              </a:ext>
            </a:extLst>
          </p:cNvPr>
          <p:cNvSpPr>
            <a:spLocks noGrp="1"/>
          </p:cNvSpPr>
          <p:nvPr/>
        </p:nvSpPr>
        <p:spPr>
          <a:xfrm>
            <a:off x="3048000" y="1666875"/>
            <a:ext cx="209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36C5F0"/>
                </a:solidFill>
              </a:defRPr>
            </a:pPr>
            <a:r>
              <a:rPr sz="1800" b="1">
                <a:solidFill>
                  <a:srgbClr val="36C5F0"/>
                </a:solidFill>
              </a:rPr>
              <a:t>Atividades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36FEECA-AC30-4EB9-8CD2-017BCE78174A}"/>
              </a:ext>
            </a:extLst>
          </p:cNvPr>
          <p:cNvSpPr>
            <a:spLocks noGrp="1"/>
          </p:cNvSpPr>
          <p:nvPr/>
        </p:nvSpPr>
        <p:spPr>
          <a:xfrm>
            <a:off x="5191125" y="1666875"/>
            <a:ext cx="57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A9B7C8"/>
                </a:solidFill>
              </a:defRPr>
            </a:pPr>
            <a:r>
              <a:rPr sz="2100" b="1">
                <a:solidFill>
                  <a:srgbClr val="A9B7C8"/>
                </a:solidFill>
              </a:rPr>
              <a:t>→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D38021E-4A3D-4C5E-8C32-02DC7AA9EC77}"/>
              </a:ext>
            </a:extLst>
          </p:cNvPr>
          <p:cNvSpPr>
            <a:spLocks noGrp="1"/>
          </p:cNvSpPr>
          <p:nvPr/>
        </p:nvSpPr>
        <p:spPr>
          <a:xfrm>
            <a:off x="5734050" y="1666875"/>
            <a:ext cx="2238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9A7BFF"/>
                </a:solidFill>
              </a:defRPr>
            </a:pPr>
            <a:r>
              <a:rPr sz="1800" b="1">
                <a:solidFill>
                  <a:srgbClr val="9A7BFF"/>
                </a:solidFill>
              </a:rPr>
              <a:t>Dependências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EC6C951-17FF-4865-A00C-0DAC7D6F5A6D}"/>
              </a:ext>
            </a:extLst>
          </p:cNvPr>
          <p:cNvSpPr>
            <a:spLocks noGrp="1"/>
          </p:cNvSpPr>
          <p:nvPr/>
        </p:nvSpPr>
        <p:spPr>
          <a:xfrm>
            <a:off x="8001000" y="1666875"/>
            <a:ext cx="57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A9B7C8"/>
                </a:solidFill>
              </a:defRPr>
            </a:pPr>
            <a:r>
              <a:rPr sz="2100" b="1">
                <a:solidFill>
                  <a:srgbClr val="A9B7C8"/>
                </a:solidFill>
              </a:rPr>
              <a:t>→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3A69914-3385-4BE8-94E7-054317D0A0C3}"/>
              </a:ext>
            </a:extLst>
          </p:cNvPr>
          <p:cNvSpPr>
            <a:spLocks noGrp="1"/>
          </p:cNvSpPr>
          <p:nvPr/>
        </p:nvSpPr>
        <p:spPr>
          <a:xfrm>
            <a:off x="8572500" y="1666875"/>
            <a:ext cx="190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BE55"/>
                </a:solidFill>
              </a:defRPr>
            </a:pPr>
            <a:r>
              <a:rPr sz="1800" b="1">
                <a:solidFill>
                  <a:srgbClr val="FFBE55"/>
                </a:solidFill>
              </a:rPr>
              <a:t>Gantt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67FEC7A-E3B3-422C-8D70-400D32CF4BEB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10668000" cy="2762250"/>
          </a:xfrm>
          <a:prstGeom prst="roundRect">
            <a:avLst>
              <a:gd name="adj" fmla="val 3448"/>
            </a:avLst>
          </a:prstGeom>
          <a:solidFill>
            <a:srgbClr val="101D2E"/>
          </a:solidFill>
          <a:ln w="9525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9B28E0D-F3E3-4AA5-8442-058597E7606E}"/>
              </a:ext>
            </a:extLst>
          </p:cNvPr>
          <p:cNvSpPr>
            <a:spLocks noGrp="1"/>
          </p:cNvSpPr>
          <p:nvPr/>
        </p:nvSpPr>
        <p:spPr>
          <a:xfrm>
            <a:off x="2857500" y="255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1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038289B-E7A5-40CB-97B4-09E9A17C51AC}"/>
              </a:ext>
            </a:extLst>
          </p:cNvPr>
          <p:cNvSpPr>
            <a:spLocks noGrp="1"/>
          </p:cNvSpPr>
          <p:nvPr/>
        </p:nvSpPr>
        <p:spPr>
          <a:xfrm>
            <a:off x="3143250" y="2857500"/>
            <a:ext cx="9525" cy="20955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8066A01-F4B1-4840-A712-935C24BC260E}"/>
              </a:ext>
            </a:extLst>
          </p:cNvPr>
          <p:cNvSpPr>
            <a:spLocks noGrp="1"/>
          </p:cNvSpPr>
          <p:nvPr/>
        </p:nvSpPr>
        <p:spPr>
          <a:xfrm>
            <a:off x="3600450" y="255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2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9F68FE8-1207-428B-A11B-8A2DA3370409}"/>
              </a:ext>
            </a:extLst>
          </p:cNvPr>
          <p:cNvSpPr>
            <a:spLocks noGrp="1"/>
          </p:cNvSpPr>
          <p:nvPr/>
        </p:nvSpPr>
        <p:spPr>
          <a:xfrm>
            <a:off x="3886200" y="2857500"/>
            <a:ext cx="9525" cy="20955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3683186-7434-42BC-B940-D6C11C92554E}"/>
              </a:ext>
            </a:extLst>
          </p:cNvPr>
          <p:cNvSpPr>
            <a:spLocks noGrp="1"/>
          </p:cNvSpPr>
          <p:nvPr/>
        </p:nvSpPr>
        <p:spPr>
          <a:xfrm>
            <a:off x="4343400" y="255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3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98A0713-1242-47F5-9201-790115CA15FE}"/>
              </a:ext>
            </a:extLst>
          </p:cNvPr>
          <p:cNvSpPr>
            <a:spLocks noGrp="1"/>
          </p:cNvSpPr>
          <p:nvPr/>
        </p:nvSpPr>
        <p:spPr>
          <a:xfrm>
            <a:off x="4629150" y="2857500"/>
            <a:ext cx="9525" cy="20955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0DB106E-3247-493B-A504-4D78C28F582A}"/>
              </a:ext>
            </a:extLst>
          </p:cNvPr>
          <p:cNvSpPr>
            <a:spLocks noGrp="1"/>
          </p:cNvSpPr>
          <p:nvPr/>
        </p:nvSpPr>
        <p:spPr>
          <a:xfrm>
            <a:off x="5086350" y="255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4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0A19017-9F67-40E7-9968-0467129D5AB7}"/>
              </a:ext>
            </a:extLst>
          </p:cNvPr>
          <p:cNvSpPr>
            <a:spLocks noGrp="1"/>
          </p:cNvSpPr>
          <p:nvPr/>
        </p:nvSpPr>
        <p:spPr>
          <a:xfrm>
            <a:off x="5372100" y="2857500"/>
            <a:ext cx="9525" cy="20955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8625CE2-CFAF-40C1-AB1E-F92ECFB4DE48}"/>
              </a:ext>
            </a:extLst>
          </p:cNvPr>
          <p:cNvSpPr>
            <a:spLocks noGrp="1"/>
          </p:cNvSpPr>
          <p:nvPr/>
        </p:nvSpPr>
        <p:spPr>
          <a:xfrm>
            <a:off x="5829300" y="255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5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63C044E-356C-4CE2-B1C8-7921DAD13284}"/>
              </a:ext>
            </a:extLst>
          </p:cNvPr>
          <p:cNvSpPr>
            <a:spLocks noGrp="1"/>
          </p:cNvSpPr>
          <p:nvPr/>
        </p:nvSpPr>
        <p:spPr>
          <a:xfrm>
            <a:off x="6115050" y="2857500"/>
            <a:ext cx="9525" cy="20955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E3438F0-DF2C-42B2-99C3-FFE449F92256}"/>
              </a:ext>
            </a:extLst>
          </p:cNvPr>
          <p:cNvSpPr>
            <a:spLocks noGrp="1"/>
          </p:cNvSpPr>
          <p:nvPr/>
        </p:nvSpPr>
        <p:spPr>
          <a:xfrm>
            <a:off x="6572250" y="255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6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BEA25A4-9C2F-4BCB-8568-7B9160930CA9}"/>
              </a:ext>
            </a:extLst>
          </p:cNvPr>
          <p:cNvSpPr>
            <a:spLocks noGrp="1"/>
          </p:cNvSpPr>
          <p:nvPr/>
        </p:nvSpPr>
        <p:spPr>
          <a:xfrm>
            <a:off x="6858000" y="2857500"/>
            <a:ext cx="9525" cy="20955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F872202-7D65-4495-8A12-1D4423255CF6}"/>
              </a:ext>
            </a:extLst>
          </p:cNvPr>
          <p:cNvSpPr>
            <a:spLocks noGrp="1"/>
          </p:cNvSpPr>
          <p:nvPr/>
        </p:nvSpPr>
        <p:spPr>
          <a:xfrm>
            <a:off x="7315200" y="255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7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E654A04-8006-4C83-AB36-4CEF18A3B5CB}"/>
              </a:ext>
            </a:extLst>
          </p:cNvPr>
          <p:cNvSpPr>
            <a:spLocks noGrp="1"/>
          </p:cNvSpPr>
          <p:nvPr/>
        </p:nvSpPr>
        <p:spPr>
          <a:xfrm>
            <a:off x="7600950" y="2857500"/>
            <a:ext cx="9525" cy="20955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1F94663-2FDB-4C07-9C19-8AA25CFACAC2}"/>
              </a:ext>
            </a:extLst>
          </p:cNvPr>
          <p:cNvSpPr>
            <a:spLocks noGrp="1"/>
          </p:cNvSpPr>
          <p:nvPr/>
        </p:nvSpPr>
        <p:spPr>
          <a:xfrm>
            <a:off x="8058150" y="255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8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ACADB69-BF53-4F58-BBCB-73FF9636EAD4}"/>
              </a:ext>
            </a:extLst>
          </p:cNvPr>
          <p:cNvSpPr>
            <a:spLocks noGrp="1"/>
          </p:cNvSpPr>
          <p:nvPr/>
        </p:nvSpPr>
        <p:spPr>
          <a:xfrm>
            <a:off x="8343900" y="2857500"/>
            <a:ext cx="9525" cy="20955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1B53586-2A1D-4912-BC2B-C02492245D7B}"/>
              </a:ext>
            </a:extLst>
          </p:cNvPr>
          <p:cNvSpPr>
            <a:spLocks noGrp="1"/>
          </p:cNvSpPr>
          <p:nvPr/>
        </p:nvSpPr>
        <p:spPr>
          <a:xfrm>
            <a:off x="8801100" y="255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9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9FC25F5-D99C-4C54-B252-0895AF4FF485}"/>
              </a:ext>
            </a:extLst>
          </p:cNvPr>
          <p:cNvSpPr>
            <a:spLocks noGrp="1"/>
          </p:cNvSpPr>
          <p:nvPr/>
        </p:nvSpPr>
        <p:spPr>
          <a:xfrm>
            <a:off x="9086850" y="2857500"/>
            <a:ext cx="9525" cy="20955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19CD5EF-D668-4056-8EBF-5D3606F08E7F}"/>
              </a:ext>
            </a:extLst>
          </p:cNvPr>
          <p:cNvSpPr>
            <a:spLocks noGrp="1"/>
          </p:cNvSpPr>
          <p:nvPr/>
        </p:nvSpPr>
        <p:spPr>
          <a:xfrm>
            <a:off x="9544050" y="255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10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CACB225-5E28-47F9-9B72-9DC4CC1EEBDF}"/>
              </a:ext>
            </a:extLst>
          </p:cNvPr>
          <p:cNvSpPr>
            <a:spLocks noGrp="1"/>
          </p:cNvSpPr>
          <p:nvPr/>
        </p:nvSpPr>
        <p:spPr>
          <a:xfrm>
            <a:off x="9829800" y="2857500"/>
            <a:ext cx="9525" cy="20955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C49E8FA6-0301-40F0-9A05-5999108AB388}"/>
              </a:ext>
            </a:extLst>
          </p:cNvPr>
          <p:cNvSpPr>
            <a:spLocks noGrp="1"/>
          </p:cNvSpPr>
          <p:nvPr/>
        </p:nvSpPr>
        <p:spPr>
          <a:xfrm>
            <a:off x="10287000" y="255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11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C9A5BC1B-9656-432A-B230-2ED4AD55550E}"/>
              </a:ext>
            </a:extLst>
          </p:cNvPr>
          <p:cNvSpPr>
            <a:spLocks noGrp="1"/>
          </p:cNvSpPr>
          <p:nvPr/>
        </p:nvSpPr>
        <p:spPr>
          <a:xfrm>
            <a:off x="10572750" y="2857500"/>
            <a:ext cx="9525" cy="209550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C402D916-62A0-43FC-A054-7A9EDDAA3CAD}"/>
              </a:ext>
            </a:extLst>
          </p:cNvPr>
          <p:cNvSpPr>
            <a:spLocks noGrp="1"/>
          </p:cNvSpPr>
          <p:nvPr/>
        </p:nvSpPr>
        <p:spPr>
          <a:xfrm>
            <a:off x="952500" y="30003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A · Preparar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A3EC722D-046C-495E-B98D-98088F017AD8}"/>
              </a:ext>
            </a:extLst>
          </p:cNvPr>
          <p:cNvSpPr>
            <a:spLocks noGrp="1"/>
          </p:cNvSpPr>
          <p:nvPr/>
        </p:nvSpPr>
        <p:spPr>
          <a:xfrm>
            <a:off x="3143250" y="3000375"/>
            <a:ext cx="2152650" cy="266700"/>
          </a:xfrm>
          <a:prstGeom prst="roundRect">
            <a:avLst>
              <a:gd name="adj" fmla="val 21429"/>
            </a:avLst>
          </a:prstGeom>
          <a:solidFill>
            <a:srgbClr val="36C5F0"/>
          </a:solidFill>
          <a:ln w="0">
            <a:solidFill>
              <a:srgbClr val="36C5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84DA624D-B59B-4CC7-9C88-5B0EF1791945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B · Desenvolver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8331BE5-ED2F-41F5-8589-A277DAA250A9}"/>
              </a:ext>
            </a:extLst>
          </p:cNvPr>
          <p:cNvSpPr>
            <a:spLocks noGrp="1"/>
          </p:cNvSpPr>
          <p:nvPr/>
        </p:nvSpPr>
        <p:spPr>
          <a:xfrm>
            <a:off x="5372100" y="3476625"/>
            <a:ext cx="3638550" cy="266700"/>
          </a:xfrm>
          <a:prstGeom prst="roundRect">
            <a:avLst>
              <a:gd name="adj" fmla="val 21429"/>
            </a:avLst>
          </a:prstGeom>
          <a:solidFill>
            <a:srgbClr val="9A7BFF"/>
          </a:solidFill>
          <a:ln w="0">
            <a:solidFill>
              <a:srgbClr val="9A7B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13C33385-6B7D-4504-8B52-EF676609A76D}"/>
              </a:ext>
            </a:extLst>
          </p:cNvPr>
          <p:cNvSpPr>
            <a:spLocks noGrp="1"/>
          </p:cNvSpPr>
          <p:nvPr/>
        </p:nvSpPr>
        <p:spPr>
          <a:xfrm>
            <a:off x="952500" y="39528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C · Testar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82DA9DBB-A3C0-439C-9C5C-3B76E66A4BEF}"/>
              </a:ext>
            </a:extLst>
          </p:cNvPr>
          <p:cNvSpPr>
            <a:spLocks noGrp="1"/>
          </p:cNvSpPr>
          <p:nvPr/>
        </p:nvSpPr>
        <p:spPr>
          <a:xfrm>
            <a:off x="8343900" y="3952875"/>
            <a:ext cx="2152650" cy="266700"/>
          </a:xfrm>
          <a:prstGeom prst="roundRect">
            <a:avLst>
              <a:gd name="adj" fmla="val 21429"/>
            </a:avLst>
          </a:prstGeom>
          <a:solidFill>
            <a:srgbClr val="35D39A"/>
          </a:solidFill>
          <a:ln w="0">
            <a:solidFill>
              <a:srgbClr val="35D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6990CBB2-F959-4D40-B53D-1CFBE491853E}"/>
              </a:ext>
            </a:extLst>
          </p:cNvPr>
          <p:cNvSpPr>
            <a:spLocks noGrp="1"/>
          </p:cNvSpPr>
          <p:nvPr/>
        </p:nvSpPr>
        <p:spPr>
          <a:xfrm>
            <a:off x="952500" y="44291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D · Entregar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F83777B7-401A-424D-8804-5EF1FDDA974D}"/>
              </a:ext>
            </a:extLst>
          </p:cNvPr>
          <p:cNvSpPr>
            <a:spLocks noGrp="1"/>
          </p:cNvSpPr>
          <p:nvPr/>
        </p:nvSpPr>
        <p:spPr>
          <a:xfrm>
            <a:off x="10572750" y="4429125"/>
            <a:ext cx="666750" cy="266700"/>
          </a:xfrm>
          <a:prstGeom prst="roundRect">
            <a:avLst>
              <a:gd name="adj" fmla="val 21429"/>
            </a:avLst>
          </a:prstGeom>
          <a:solidFill>
            <a:srgbClr val="FFBE55"/>
          </a:solidFill>
          <a:ln w="0">
            <a:solidFill>
              <a:srgbClr val="FFBE5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EBF8D8AF-C32F-4A0F-848A-092CA924FFFB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971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BE55"/>
                </a:solidFill>
              </a:defRPr>
            </a:pPr>
            <a:r>
              <a:rPr sz="1650" b="1">
                <a:solidFill>
                  <a:srgbClr val="FFBE55"/>
                </a:solidFill>
              </a:rPr>
              <a:t>O Gantt representa o prazo; ele não integra a linha de base do escopo.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AE295CF4-85A8-4518-B57B-1BD469D89FAB}"/>
              </a:ext>
            </a:extLst>
          </p:cNvPr>
          <p:cNvSpPr>
            <a:spLocks noGrp="1"/>
          </p:cNvSpPr>
          <p:nvPr/>
        </p:nvSpPr>
        <p:spPr>
          <a:xfrm>
            <a:off x="1238250" y="5810250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TI · II · TT · IT expressam relações; marcos têm duração zero.</a:t>
            </a:r>
          </a:p>
        </p:txBody>
      </p:sp>
    </p:spTree>
    <p:extLst>
      <p:ext uri="{BB962C8B-B14F-4D97-AF65-F5344CB8AC3E}">
        <p14:creationId xmlns:p14="http://schemas.microsoft.com/office/powerpoint/2010/main" val="345458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25F0FAA8-79FA-4FA6-B3DA-81D7EA7412C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3.5 · INTEGRAR E CONTROLAR O ESCOPO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65BFB4E-02F0-4A84-AF25-37953E7C84C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19050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D265FFB-7D93-49D8-AE9C-34568E417554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20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B3E0674-5C94-4C1A-A2D1-B020DA5F8DA1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E962FAE-9F7C-4E11-9F87-B602CD02544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F4F8FC"/>
                </a:solidFill>
              </a:defRPr>
            </a:pPr>
            <a:r>
              <a:rPr sz="2400" b="1">
                <a:solidFill>
                  <a:srgbClr val="F4F8FC"/>
                </a:solidFill>
              </a:rPr>
              <a:t>O plano de gerenciamento mantém a coerência do escopo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B38D640-9450-44C9-8A34-821E9BCD1241}"/>
              </a:ext>
            </a:extLst>
          </p:cNvPr>
          <p:cNvSpPr>
            <a:spLocks noGrp="1"/>
          </p:cNvSpPr>
          <p:nvPr/>
        </p:nvSpPr>
        <p:spPr>
          <a:xfrm>
            <a:off x="857250" y="185737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36C5F0"/>
                </a:solidFill>
              </a:defRPr>
            </a:pPr>
            <a:r>
              <a:rPr sz="2025" b="1">
                <a:solidFill>
                  <a:srgbClr val="36C5F0"/>
                </a:solidFill>
              </a:rPr>
              <a:t>Executar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B951DFA-5D09-49A0-8520-83038894CBB1}"/>
              </a:ext>
            </a:extLst>
          </p:cNvPr>
          <p:cNvSpPr>
            <a:spLocks noGrp="1"/>
          </p:cNvSpPr>
          <p:nvPr/>
        </p:nvSpPr>
        <p:spPr>
          <a:xfrm>
            <a:off x="3476625" y="185737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9A7BFF"/>
                </a:solidFill>
              </a:defRPr>
            </a:pPr>
            <a:r>
              <a:rPr sz="2025" b="1">
                <a:solidFill>
                  <a:srgbClr val="9A7BFF"/>
                </a:solidFill>
              </a:rPr>
              <a:t>Monitorar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B6858B1-0FD4-4D5B-A46B-9A533632E0B5}"/>
              </a:ext>
            </a:extLst>
          </p:cNvPr>
          <p:cNvSpPr>
            <a:spLocks noGrp="1"/>
          </p:cNvSpPr>
          <p:nvPr/>
        </p:nvSpPr>
        <p:spPr>
          <a:xfrm>
            <a:off x="6096000" y="185737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35D39A"/>
                </a:solidFill>
              </a:defRPr>
            </a:pPr>
            <a:r>
              <a:rPr sz="2025" b="1">
                <a:solidFill>
                  <a:srgbClr val="35D39A"/>
                </a:solidFill>
              </a:rPr>
              <a:t>Controlar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48381EF-F003-40B3-BAD2-C9EF44CD1613}"/>
              </a:ext>
            </a:extLst>
          </p:cNvPr>
          <p:cNvSpPr>
            <a:spLocks noGrp="1"/>
          </p:cNvSpPr>
          <p:nvPr/>
        </p:nvSpPr>
        <p:spPr>
          <a:xfrm>
            <a:off x="8715375" y="185737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BE55"/>
                </a:solidFill>
              </a:defRPr>
            </a:pPr>
            <a:r>
              <a:rPr sz="2025" b="1">
                <a:solidFill>
                  <a:srgbClr val="FFBE55"/>
                </a:solidFill>
              </a:rPr>
              <a:t>Encerrar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3133533-4BA8-4410-83BD-568FA38C1769}"/>
              </a:ext>
            </a:extLst>
          </p:cNvPr>
          <p:cNvSpPr>
            <a:spLocks noGrp="1"/>
          </p:cNvSpPr>
          <p:nvPr/>
        </p:nvSpPr>
        <p:spPr>
          <a:xfrm>
            <a:off x="1000125" y="2571750"/>
            <a:ext cx="9810750" cy="28575"/>
          </a:xfrm>
          <a:prstGeom prst="rect">
            <a:avLst/>
          </a:prstGeom>
          <a:solidFill>
            <a:srgbClr val="294159"/>
          </a:solidFill>
          <a:ln w="0">
            <a:solidFill>
              <a:srgbClr val="2941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84725A3-0780-4029-91EB-60FEE35E4897}"/>
              </a:ext>
            </a:extLst>
          </p:cNvPr>
          <p:cNvSpPr>
            <a:spLocks noGrp="1"/>
          </p:cNvSpPr>
          <p:nvPr/>
        </p:nvSpPr>
        <p:spPr>
          <a:xfrm>
            <a:off x="1047750" y="30480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6C5F0"/>
                </a:solidFill>
              </a:defRPr>
            </a:pPr>
            <a:r>
              <a:rPr sz="1650" b="1">
                <a:solidFill>
                  <a:srgbClr val="36C5F0"/>
                </a:solidFill>
              </a:rPr>
              <a:t>TAP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0964F27-3EDF-4EB8-A64A-F149C6F20D08}"/>
              </a:ext>
            </a:extLst>
          </p:cNvPr>
          <p:cNvSpPr>
            <a:spLocks noGrp="1"/>
          </p:cNvSpPr>
          <p:nvPr/>
        </p:nvSpPr>
        <p:spPr>
          <a:xfrm>
            <a:off x="2762250" y="30480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9A7BFF"/>
                </a:solidFill>
              </a:defRPr>
            </a:pPr>
            <a:r>
              <a:rPr sz="1650" b="1">
                <a:solidFill>
                  <a:srgbClr val="9A7BFF"/>
                </a:solidFill>
              </a:rPr>
              <a:t>Requisitos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AFFE742-8F9B-4684-B946-D4E83C2F7F98}"/>
              </a:ext>
            </a:extLst>
          </p:cNvPr>
          <p:cNvSpPr>
            <a:spLocks noGrp="1"/>
          </p:cNvSpPr>
          <p:nvPr/>
        </p:nvSpPr>
        <p:spPr>
          <a:xfrm>
            <a:off x="4667250" y="30480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5D39A"/>
                </a:solidFill>
              </a:defRPr>
            </a:pPr>
            <a:r>
              <a:rPr sz="1650" b="1">
                <a:solidFill>
                  <a:srgbClr val="35D39A"/>
                </a:solidFill>
              </a:rPr>
              <a:t>Escopo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BB63A6E-7D1D-4761-AC20-0934F762CCE4}"/>
              </a:ext>
            </a:extLst>
          </p:cNvPr>
          <p:cNvSpPr>
            <a:spLocks noGrp="1"/>
          </p:cNvSpPr>
          <p:nvPr/>
        </p:nvSpPr>
        <p:spPr>
          <a:xfrm>
            <a:off x="6381750" y="304800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BE55"/>
                </a:solidFill>
              </a:defRPr>
            </a:pPr>
            <a:r>
              <a:rPr sz="1650" b="1">
                <a:solidFill>
                  <a:srgbClr val="FFBE55"/>
                </a:solidFill>
              </a:rPr>
              <a:t>EAP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68F2A71-CEF2-4E6F-8393-A317837CEE73}"/>
              </a:ext>
            </a:extLst>
          </p:cNvPr>
          <p:cNvSpPr>
            <a:spLocks noGrp="1"/>
          </p:cNvSpPr>
          <p:nvPr/>
        </p:nvSpPr>
        <p:spPr>
          <a:xfrm>
            <a:off x="8096250" y="30480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36C5F0"/>
                </a:solidFill>
              </a:defRPr>
            </a:pPr>
            <a:r>
              <a:rPr sz="1650" b="1">
                <a:solidFill>
                  <a:srgbClr val="36C5F0"/>
                </a:solidFill>
              </a:rPr>
              <a:t>Cronograma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0057856-856A-4292-9ECF-7831E7B31C40}"/>
              </a:ext>
            </a:extLst>
          </p:cNvPr>
          <p:cNvSpPr>
            <a:spLocks noGrp="1"/>
          </p:cNvSpPr>
          <p:nvPr/>
        </p:nvSpPr>
        <p:spPr>
          <a:xfrm>
            <a:off x="1381125" y="4095750"/>
            <a:ext cx="9429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F4F8FC"/>
                </a:solidFill>
              </a:defRPr>
            </a:pPr>
            <a:r>
              <a:rPr sz="2325" b="1">
                <a:solidFill>
                  <a:srgbClr val="F4F8FC"/>
                </a:solidFill>
              </a:rPr>
              <a:t>Uma mudança relevante precisa repercutir nos artefatos afetados — com análise, aprovação e rastreabilidade.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63A2F5C-639B-4ED1-8AEF-A100A9B9BE9E}"/>
              </a:ext>
            </a:extLst>
          </p:cNvPr>
          <p:cNvSpPr>
            <a:spLocks noGrp="1"/>
          </p:cNvSpPr>
          <p:nvPr/>
        </p:nvSpPr>
        <p:spPr>
          <a:xfrm>
            <a:off x="1285875" y="5476875"/>
            <a:ext cx="962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0">
                <a:solidFill>
                  <a:srgbClr val="A9B7C8"/>
                </a:solidFill>
              </a:defRPr>
            </a:pPr>
            <a:r>
              <a:rPr sz="1725" b="0">
                <a:solidFill>
                  <a:srgbClr val="A9B7C8"/>
                </a:solidFill>
              </a:rPr>
              <a:t>Síntese: autorizar → compreender → delimitar → decompor → programar → controlar.</a:t>
            </a:r>
          </a:p>
        </p:txBody>
      </p:sp>
    </p:spTree>
    <p:extLst>
      <p:ext uri="{BB962C8B-B14F-4D97-AF65-F5344CB8AC3E}">
        <p14:creationId xmlns:p14="http://schemas.microsoft.com/office/powerpoint/2010/main" val="2787385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1438</Words>
  <Application>Microsoft Office PowerPoint</Application>
  <PresentationFormat>Widescreen</PresentationFormat>
  <Paragraphs>218</Paragraphs>
  <Slides>25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Wingdings</vt:lpstr>
      <vt:lpstr>Tema do Office</vt:lpstr>
      <vt:lpstr>Gestão de Projetos 2026</vt:lpstr>
      <vt:lpstr>Apresentação do PowerPoint</vt:lpstr>
      <vt:lpstr>Apresentação do PowerPoint</vt:lpstr>
      <vt:lpstr>Gerenciamento do escopo</vt:lpstr>
      <vt:lpstr>Apresentação do PowerPoint</vt:lpstr>
      <vt:lpstr>Apresentação do PowerPoint</vt:lpstr>
      <vt:lpstr>Plano de gerenciamento do escopo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Controle do escopo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 Silva</dc:creator>
  <cp:lastModifiedBy>Clayton Silva</cp:lastModifiedBy>
  <cp:revision>1</cp:revision>
  <dcterms:created xsi:type="dcterms:W3CDTF">2026-08-05T22:38:24Z</dcterms:created>
  <dcterms:modified xsi:type="dcterms:W3CDTF">2026-09-03T18:04:21Z</dcterms:modified>
</cp:coreProperties>
</file>